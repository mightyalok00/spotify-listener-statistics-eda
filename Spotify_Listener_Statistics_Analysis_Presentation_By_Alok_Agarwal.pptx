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D760"/>
          </a:solidFill>
          <a:ln w="12700">
            <a:solidFill>
              <a:srgbClr val="1ED7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LISTENER STATISTICS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235440" y="2286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Science Portfolio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C"/>
          </a:solidFill>
          <a:ln w="12700">
            <a:solidFill>
              <a:srgbClr val="0B0F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02920"/>
            <a:ext cx="2377440" cy="2377440"/>
          </a:xfrm>
          <a:prstGeom prst="ellipse">
            <a:avLst/>
          </a:prstGeom>
          <a:solidFill>
            <a:srgbClr val="1ED760">
              <a:alpha val="95000"/>
            </a:srgbClr>
          </a:solidFill>
          <a:ln w="12700">
            <a:solidFill>
              <a:srgbClr val="1ED7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8592" y="1033272"/>
            <a:ext cx="1325880" cy="1325880"/>
          </a:xfrm>
          <a:prstGeom prst="ellipse">
            <a:avLst/>
          </a:prstGeom>
          <a:solidFill>
            <a:srgbClr val="0B0F0C"/>
          </a:solidFill>
          <a:ln w="12700">
            <a:solidFill>
              <a:srgbClr val="0B0F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49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D760"/>
                </a:solidFill>
              </a:rPr>
              <a:t>SPOTIFY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5"/>
                </a:solidFill>
              </a:rPr>
              <a:t>Listener Statistics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2194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B0AA"/>
                </a:solidFill>
              </a:rPr>
              <a:t>Exploratory Data Analysis &amp; Business Insights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13232" y="2880360"/>
            <a:ext cx="4937760" cy="0"/>
          </a:xfrm>
          <a:prstGeom prst="line">
            <a:avLst/>
          </a:prstGeom>
          <a:noFill/>
          <a:ln w="25400">
            <a:solidFill>
              <a:srgbClr val="1ED7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1546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5"/>
                </a:solidFill>
              </a:rPr>
              <a:t>500 records  •  12 variables  •  Countries  •  Artists  •  Genres  •  Platforms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6758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0AA"/>
                </a:solidFill>
              </a:rPr>
              <a:t>Python  •  Pandas  •  NumPy  •  Matplotlib  •  Seaborn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58978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E68D"/>
                </a:solidFill>
              </a:rPr>
              <a:t>Portfolio-ready data science presentation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713232" y="4160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D760"/>
                </a:solidFill>
                <a:latin typeface="Aptos"/>
              </a:rPr>
              <a:t>By Alok Agarwal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The headline answers from the cleaned Spotify listener dataset.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7465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TOP ARTIST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58952" y="203911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BTS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8952" y="253288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124,299M streams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160020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17465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TOP COUNTRY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24912" y="203911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Sweden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24912" y="253288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93,450M streams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60020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7465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TOP GENRE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90872" y="203911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Classical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90872" y="253288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197,277M streams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92240" y="160020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17465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RECENT LEADER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56832" y="203911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Dua Lipa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56832" y="253288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4,422M / 30 days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58200" y="160020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22792" y="17465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BEST ENGAGEMENT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622792" y="203911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France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22792" y="253288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261.02 ratio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424160" y="1600200"/>
            <a:ext cx="1170432" cy="1325880"/>
          </a:xfrm>
          <a:prstGeom prst="roundRect">
            <a:avLst>
              <a:gd name="adj" fmla="val 4688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88752" y="174650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SKIP CORR.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588752" y="203911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−0.022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588752" y="253288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No relationship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3246120"/>
            <a:ext cx="5303520" cy="228600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410712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BUSINESS TAKEAWAY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95528" y="3685032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Popularity ≠ engagement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5528" y="4233672"/>
            <a:ext cx="49011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The best decisions combine reach, historical volume, recent momentum, engagement, and skip behavior—not a single metric.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3246120"/>
            <a:ext cx="5422392" cy="228600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3410712"/>
            <a:ext cx="5020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STRATEGIC DIRECTION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73368" y="3685032"/>
            <a:ext cx="5020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Defend scale. Invest in momentum.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73368" y="4233672"/>
            <a:ext cx="50200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Protect BTS/Classical scale, amplify Dua Lipa and Indie momentum, and use high-engagement markets such as France for retention and Premium conversion.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Business objective &amp; analytical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The project converts listening metrics into market, content, and subscription decisions.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475488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5F7F5"/>
                </a:solidFill>
              </a:rPr>
              <a:t>Identify the strongest countries and regions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5F7F5"/>
                </a:solidFill>
              </a:rPr>
              <a:t>Rank artists, genres, and albums by performance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5F7F5"/>
                </a:solidFill>
              </a:rPr>
              <a:t>Compare Free and Premium listening behavior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5F7F5"/>
                </a:solidFill>
              </a:rPr>
              <a:t>Measure engagement and skip-rate patterns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5F7F5"/>
                </a:solidFill>
              </a:rPr>
              <a:t>Evaluate recent streaming and release-year trends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5F7F5"/>
                </a:solidFill>
              </a:rPr>
              <a:t>Translate findings into business recommendations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15000" y="1920240"/>
            <a:ext cx="658368" cy="65836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0" y="21488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5"/>
                </a:solidFill>
              </a:rPr>
              <a:t>Load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364224" y="2139696"/>
            <a:ext cx="164592" cy="201168"/>
          </a:xfrm>
          <a:prstGeom prst="chevron">
            <a:avLst/>
          </a:prstGeom>
          <a:solidFill>
            <a:srgbClr val="708079"/>
          </a:solidFill>
          <a:ln w="12700">
            <a:solidFill>
              <a:srgbClr val="7080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19672" y="1920240"/>
            <a:ext cx="658368" cy="65836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21488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5"/>
                </a:solidFill>
              </a:rPr>
              <a:t>Validate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68896" y="2139696"/>
            <a:ext cx="164592" cy="201168"/>
          </a:xfrm>
          <a:prstGeom prst="chevron">
            <a:avLst/>
          </a:prstGeom>
          <a:solidFill>
            <a:srgbClr val="708079"/>
          </a:solidFill>
          <a:ln w="12700">
            <a:solidFill>
              <a:srgbClr val="7080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24344" y="1920240"/>
            <a:ext cx="658368" cy="65836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24344" y="21488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5"/>
                </a:solidFill>
              </a:rPr>
              <a:t>Clean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73568" y="2139696"/>
            <a:ext cx="164592" cy="201168"/>
          </a:xfrm>
          <a:prstGeom prst="chevron">
            <a:avLst/>
          </a:prstGeom>
          <a:solidFill>
            <a:srgbClr val="708079"/>
          </a:solidFill>
          <a:ln w="12700">
            <a:solidFill>
              <a:srgbClr val="7080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9016" y="1920240"/>
            <a:ext cx="658368" cy="65836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9016" y="21488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5"/>
                </a:solidFill>
              </a:rPr>
              <a:t>Explore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778240" y="2139696"/>
            <a:ext cx="164592" cy="201168"/>
          </a:xfrm>
          <a:prstGeom prst="chevron">
            <a:avLst/>
          </a:prstGeom>
          <a:solidFill>
            <a:srgbClr val="708079"/>
          </a:solidFill>
          <a:ln w="12700">
            <a:solidFill>
              <a:srgbClr val="7080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33688" y="1920240"/>
            <a:ext cx="658368" cy="65836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33688" y="21488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5"/>
                </a:solidFill>
              </a:rPr>
              <a:t>Analyze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582912" y="2139696"/>
            <a:ext cx="164592" cy="201168"/>
          </a:xfrm>
          <a:prstGeom prst="chevron">
            <a:avLst/>
          </a:prstGeom>
          <a:solidFill>
            <a:srgbClr val="708079"/>
          </a:solidFill>
          <a:ln w="12700">
            <a:solidFill>
              <a:srgbClr val="7080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1920240"/>
            <a:ext cx="658368" cy="65836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21488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5"/>
                </a:solidFill>
              </a:rPr>
              <a:t>Answer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387584" y="2139696"/>
            <a:ext cx="164592" cy="201168"/>
          </a:xfrm>
          <a:prstGeom prst="chevron">
            <a:avLst/>
          </a:prstGeom>
          <a:solidFill>
            <a:srgbClr val="708079"/>
          </a:solidFill>
          <a:ln w="12700">
            <a:solidFill>
              <a:srgbClr val="7080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43032" y="1920240"/>
            <a:ext cx="658368" cy="658368"/>
          </a:xfrm>
          <a:prstGeom prst="roundRect">
            <a:avLst/>
          </a:prstGeom>
          <a:solidFill>
            <a:srgbClr val="1ED760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43032" y="21488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F0C"/>
                </a:solidFill>
              </a:rPr>
              <a:t>Recommend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15000" y="3154680"/>
            <a:ext cx="5486400" cy="205740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16168" y="3319272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CORE QUESTION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16168" y="3593592"/>
            <a:ext cx="5084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Where should Spotify focus next?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16168" y="4142232"/>
            <a:ext cx="50840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Use the dataset to distinguish high-reach markets, high-volume artists, high-engagement audiences, and content with current momentum.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Dataset overview &amp; data quality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The cleaned dataset is analysis-ready with no missing or duplicate records.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00784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ROWS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04672" y="199339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500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Clean observations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700784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VARIABLES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99232" y="199339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12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99232" y="248716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Categorical + numeric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1700784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MISSING VALUES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93792" y="199339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93792" y="248716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Complete fields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23760" y="155448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1700784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DUPLICATES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88352" y="199339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88352" y="248716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No repeated rows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18320" y="155448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1700784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RELEASE YEARS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82912" y="199339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2018–2023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82912" y="248716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6 cohorts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5"/>
                </a:solidFill>
              </a:rPr>
              <a:t>Key analytical measures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" y="3794760"/>
            <a:ext cx="512064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5F7F5"/>
                </a:solidFill>
              </a:rPr>
              <a:t>Monthly listeners → audience reach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5F7F5"/>
                </a:solidFill>
              </a:rPr>
              <a:t>Total streams → historical popularity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5F7F5"/>
                </a:solidFill>
              </a:rPr>
              <a:t>Streaming hours → engagement depth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5F7F5"/>
                </a:solidFill>
              </a:rPr>
              <a:t>Last 30 days → current momentum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5F7F5"/>
                </a:solidFill>
              </a:rPr>
              <a:t>Skip rate → retention / content fit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5F7F5"/>
                </a:solidFill>
              </a:rPr>
              <a:t>Platform type → Free vs Premium behavior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72200" y="3429000"/>
            <a:ext cx="5257800" cy="233172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3593592"/>
            <a:ext cx="4855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DATA QUALITY ANSWER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73368" y="3867912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Ready for EDA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73368" y="4416552"/>
            <a:ext cx="48554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No imputation or duplicate removal is required in the final cleaned dataset. Interpret results within this supplied project dataset, not as Spotify proprietary performance.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Regional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Sweden leads total streams, while Russia leads listener reach.</a:t>
            </a:r>
            <a:endParaRPr lang="en-US" sz="1150" dirty="0"/>
          </a:p>
        </p:txBody>
      </p:sp>
      <p:pic>
        <p:nvPicPr>
          <p:cNvPr id="4" name="Image 0" descr="/mnt/data/spotify_ppt_assets/countries_stre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71780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72768"/>
            <a:ext cx="3639312" cy="169164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10728" y="173736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ANSWER: MOST STREAMS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10728" y="201168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Sweden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10728" y="2560320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93,449.76M total streams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3493008"/>
            <a:ext cx="3639312" cy="169164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10728" y="365760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ANSWER: LARGEST AUDIENCE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110728" y="393192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Russia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10728" y="4480560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1,603.45M aggregated monthly listeners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73568" y="553212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64E68D"/>
                </a:solidFill>
              </a:rPr>
              <a:t>Implication: audience size and streaming volume should be managed as separate dimensions.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Regional engagement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France produces the deepest listening relative to audience size.</a:t>
            </a:r>
            <a:endParaRPr lang="en-US" sz="1150" dirty="0"/>
          </a:p>
        </p:txBody>
      </p:sp>
      <p:pic>
        <p:nvPicPr>
          <p:cNvPr id="4" name="Image 0" descr="/mnt/data/spotify_ppt_assets/countries_eng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71780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72768"/>
            <a:ext cx="3639312" cy="173736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10728" y="173736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ANSWER: STRONGEST ENGAGEMENT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10728" y="201168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France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10728" y="2560320"/>
            <a:ext cx="3236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261.02 total-hours / monthly-listener ratio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3611880"/>
            <a:ext cx="3639312" cy="178308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10728" y="377647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CURRENT MOMENTUM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110728" y="4050792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Italy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10728" y="4599432"/>
            <a:ext cx="32369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3,227.25M streams in the last 30 days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55280" y="56235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0AA"/>
                </a:solidFill>
              </a:rPr>
              <a:t>Priority use cases: retention, Premium conversion, long-session playlists, and localized artist campaigns.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Artist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BTS dominates historical scale; Dua Lipa leads current momentum.</a:t>
            </a:r>
            <a:endParaRPr lang="en-US" sz="1150" dirty="0"/>
          </a:p>
        </p:txBody>
      </p:sp>
      <p:pic>
        <p:nvPicPr>
          <p:cNvPr id="4" name="Image 0" descr="/mnt/data/spotify_ppt_assets/artists_stre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71780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72768"/>
            <a:ext cx="3639312" cy="169164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10728" y="173736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ANSWER: HIGHEST VOLUME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10728" y="201168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BTS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10728" y="2560320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124,299.47M total streams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3493008"/>
            <a:ext cx="3639312" cy="169164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10728" y="365760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ANSWER: STRONGEST RECENT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110728" y="393192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Dua Lipa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10728" y="4480560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4,422.26M streams in the last 30 days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73568" y="5559552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4E68D"/>
                </a:solidFill>
              </a:rPr>
              <a:t>BTS also has the largest aggregated monthly-listener reach at 2,770.65M.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Artist engagement &amp; retention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High-value artists are not always the same as high-volume artists.</a:t>
            </a:r>
            <a:endParaRPr lang="en-US" sz="1150" dirty="0"/>
          </a:p>
        </p:txBody>
      </p:sp>
      <p:pic>
        <p:nvPicPr>
          <p:cNvPr id="4" name="Image 0" descr="/mnt/data/spotify_ppt_assets/artists_eng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71780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72768"/>
            <a:ext cx="3639312" cy="169164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10728" y="173736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ANSWER: STRONGEST ENGAGEMENT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10728" y="201168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Dua Lipa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10728" y="2560320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246.49 engagement ratio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3493008"/>
            <a:ext cx="3639312" cy="169164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10728" y="365760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ANSWER: LOWEST SKIP RATE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110728" y="393192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BLACKPINK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10728" y="4480560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16.05% average skip rate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55280" y="5559552"/>
            <a:ext cx="3529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0AA"/>
                </a:solidFill>
              </a:rPr>
              <a:t>Recommendation: use both engagement and skip behavior when selecting artists for discovery and retention playlists.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Genre performance &amp; promotion opportunity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Classical owns scale; Indie is the stronger growth-oriented discovery bet.</a:t>
            </a:r>
            <a:endParaRPr lang="en-US" sz="1150" dirty="0"/>
          </a:p>
        </p:txBody>
      </p:sp>
      <p:pic>
        <p:nvPicPr>
          <p:cNvPr id="4" name="Image 0" descr="/mnt/data/spotify_ppt_assets/genres_stre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577840" cy="4343400"/>
          </a:xfrm>
          <a:prstGeom prst="rect">
            <a:avLst/>
          </a:prstGeom>
        </p:spPr>
      </p:pic>
      <p:pic>
        <p:nvPicPr>
          <p:cNvPr id="5" name="Image 1" descr="/mnt/data/spotify_ppt_assets/promotion_sc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577840" cy="4343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1792" y="5897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64E68D"/>
                </a:solidFill>
              </a:rPr>
              <a:t>Scale answer: Classical leads total streams, listeners, and recent streams.</a:t>
            </a:r>
            <a:endParaRPr lang="en-US" sz="1120" dirty="0"/>
          </a:p>
        </p:txBody>
      </p:sp>
      <p:sp>
        <p:nvSpPr>
          <p:cNvPr id="7" name="Text 3"/>
          <p:cNvSpPr/>
          <p:nvPr/>
        </p:nvSpPr>
        <p:spPr>
          <a:xfrm>
            <a:off x="6309360" y="5897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64E68D"/>
                </a:solidFill>
              </a:rPr>
              <a:t>Growth answer: Indie combines strong scale, strong recent activity, and a low 18.29% skip rate.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Album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The highest-volume albums mirror the strongest artist franchises.</a:t>
            </a:r>
            <a:endParaRPr lang="en-US" sz="1150" dirty="0"/>
          </a:p>
        </p:txBody>
      </p:sp>
      <p:pic>
        <p:nvPicPr>
          <p:cNvPr id="4" name="Image 0" descr="/mnt/data/spotify_ppt_assets/albums_stre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71780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72768"/>
            <a:ext cx="3639312" cy="173736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10728" y="173736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ANSWER: TOP ALBUM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10728" y="201168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BTS — Proof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10728" y="2560320"/>
            <a:ext cx="3236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124,299.47M total streams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3611880"/>
            <a:ext cx="3639312" cy="173736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10728" y="377647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RECENT MOMENTUM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110728" y="4050792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Future Nostalgia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10728" y="4599432"/>
            <a:ext cx="3236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Dua Lipa: 4,422.26M recent streams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73568" y="5623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0AA"/>
                </a:solidFill>
              </a:rPr>
              <a:t>Use historical album scale for catalog value and recent streams for campaign timing.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Free vs Premium behavior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Premium listeners show deeper engagement even with similar average stream duration.</a:t>
            </a:r>
            <a:endParaRPr lang="en-US" sz="1150" dirty="0"/>
          </a:p>
        </p:txBody>
      </p:sp>
      <p:pic>
        <p:nvPicPr>
          <p:cNvPr id="4" name="Image 0" descr="/mnt/data/spotify_ppt_assets/platform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49224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6002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4072" y="174650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FREE HOURS/LISTENER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34072" y="2039112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170.20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434072" y="2532888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Avg skip 20.47%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372600" y="16002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37192" y="174650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B0AA"/>
                </a:solidFill>
              </a:rPr>
              <a:t>PREMIUM HOURS/LISTENER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537192" y="2039112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180.87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37192" y="2532888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E68D"/>
                </a:solidFill>
              </a:rPr>
              <a:t>Avg skip 20.27%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69480" y="3337560"/>
            <a:ext cx="3977640" cy="214884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70648" y="3502152"/>
            <a:ext cx="3575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ANSWER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470648" y="3776472"/>
            <a:ext cx="3575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Premium corresponds to deeper listening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70648" y="4325112"/>
            <a:ext cx="35753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Premium produces more total streams, recent streams, and streaming hours, with about a 6.3% advantage in hours-per-listener engagement.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Skip-rate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Longer average stream duration does not meaningfully reduce skipping.</a:t>
            </a:r>
            <a:endParaRPr lang="en-US" sz="1150" dirty="0"/>
          </a:p>
        </p:txBody>
      </p:sp>
      <p:pic>
        <p:nvPicPr>
          <p:cNvPr id="4" name="Image 0" descr="/mnt/data/spotify_ppt_assets/duration_sk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71323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72768"/>
            <a:ext cx="3639312" cy="182880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10728" y="173736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ANSWER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10728" y="201168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Correlation = −0.022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10728" y="2560320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This is effectively zero: track duration is not a useful standalone predictor of skip behavior in this dataset.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73568" y="384048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A7B0AA"/>
                </a:solidFill>
              </a:rPr>
              <a:t>Future analysis should test playlist context, device, recommendation source, track position, repeat listening, and completion rate.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Release-year trends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Older catalog content can remain highly valuable.</a:t>
            </a:r>
            <a:endParaRPr lang="en-US" sz="1150" dirty="0"/>
          </a:p>
        </p:txBody>
      </p:sp>
      <p:pic>
        <p:nvPicPr>
          <p:cNvPr id="4" name="Image 0" descr="/mnt/data/spotify_ppt_assets/release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71323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72768"/>
            <a:ext cx="3639312" cy="169164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10728" y="173736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HISTORICAL LEADER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10728" y="201168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2022 releases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10728" y="2560320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245,756.44M total streams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3493008"/>
            <a:ext cx="3639312" cy="1691640"/>
          </a:xfrm>
          <a:prstGeom prst="roundRect">
            <a:avLst/>
          </a:prstGeom>
          <a:solidFill>
            <a:srgbClr val="1B231E"/>
          </a:solidFill>
          <a:ln w="17780">
            <a:solidFill>
              <a:srgbClr val="1ED7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10728" y="365760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ED760"/>
                </a:solidFill>
              </a:rPr>
              <a:t>RECENT LEADER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110728" y="393192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7F5"/>
                </a:solidFill>
              </a:rPr>
              <a:t>2020 releases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10728" y="4480560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9,603.78M recent streams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73568" y="55138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4E68D"/>
                </a:solidFill>
              </a:rPr>
              <a:t>2020 also has the lowest release-year skip rate at 17.78% → catalog rediscovery is a real opportunity.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Business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Turn the findings into targeted market, content, and subscription actions.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12070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73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98448" y="1655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5"/>
                </a:solidFill>
              </a:rPr>
              <a:t>Defend scale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9842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Protect BTS and Classical with editorial visibility and catalog support.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257800" cy="12070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673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22008" y="1655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5"/>
                </a:solidFill>
              </a:rPr>
              <a:t>Invest in momentum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22008" y="19842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Prioritize Dua Lipa and recent high-growth content for campaigns.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5257800" cy="12070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182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1638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5"/>
                </a:solidFill>
              </a:rPr>
              <a:t>Grow discovery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493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Expand Indie discovery; retain K-pop and R&amp;B as engagement-rich segments.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017520"/>
            <a:ext cx="5257800" cy="12070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182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22008" y="31638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5"/>
                </a:solidFill>
              </a:rPr>
              <a:t>Target markets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22008" y="3493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Use France/Germany for retention and Premium conversion; Italy for current-momentum campaigns.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257800" cy="12070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690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4672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5"/>
                </a:solidFill>
              </a:rPr>
              <a:t>Convert Free users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0017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Target highly engaged Free listeners with Premium offers and uninterrupted-session value.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526280"/>
            <a:ext cx="5257800" cy="12070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4690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22008" y="4672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5"/>
                </a:solidFill>
              </a:rPr>
              <a:t>Monitor recent signals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22008" y="50017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0AA"/>
                </a:solidFill>
              </a:rPr>
              <a:t>Separate lifetime scale from last-30-day momentum in dashboards and decisions.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5"/>
                </a:solidFill>
              </a:rPr>
              <a:t>Final business answers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AA"/>
                </a:solidFill>
              </a:rPr>
              <a:t>A concise answer sheet for the project brief.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270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Most streams — country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777240" y="17647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Sweden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70832" y="1417320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5270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Largest listener base — country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507992" y="17647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Russia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01584" y="1417320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8744" y="15270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Strongest regional engagement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38744" y="17647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France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350008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597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Strongest recent market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777240" y="26974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Italy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70832" y="2350008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24597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Highest streaming artist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507992" y="26974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BTS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01584" y="2350008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24597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Strongest recent artist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238744" y="26974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Dua Lipa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3282696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392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Strongest artist engagement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77240" y="36301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Dua Lipa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70832" y="3282696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3392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Lowest artist skip rate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507992" y="36301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BLACKPINK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01584" y="3282696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38744" y="3392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Top genre by scale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8238744" y="36301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Classical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080" y="4215384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3251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Growth-oriented genre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77240" y="456285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Indie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370832" y="4215384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43251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Top album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507992" y="456285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BTS — Proof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101584" y="4215384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38744" y="43251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Premium behavior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8238744" y="456285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Deeper engagement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40080" y="5148072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257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Duration vs skip rate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777240" y="549554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No meaningful relationship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4370832" y="5148072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07992" y="5257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Top historical release year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4507992" y="549554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2022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101584" y="5148072"/>
            <a:ext cx="3401568" cy="749808"/>
          </a:xfrm>
          <a:prstGeom prst="roundRect">
            <a:avLst/>
          </a:prstGeom>
          <a:solidFill>
            <a:srgbClr val="141A16"/>
          </a:solidFill>
          <a:ln w="12700">
            <a:solidFill>
              <a:srgbClr val="2933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38744" y="5257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7B0AA"/>
                </a:solidFill>
              </a:rPr>
              <a:t>Top recent release year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8238744" y="549554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5"/>
                </a:solidFill>
              </a:rPr>
              <a:t>2020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77724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D760"/>
                </a:solidFill>
              </a:rPr>
              <a:t>Decision framework: Reach  →  Volume  →  Engagement  →  Momentum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A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7F5"/>
                </a:solidFill>
              </a:rPr>
              <a:t>From listening data to business action.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508760" y="260604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A7B0AA"/>
                </a:solidFill>
              </a:rPr>
              <a:t>The strongest Spotify strategy is not “what is biggest?” — it is “what has scale, depth, retention, and momentum together?”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343400" y="4069080"/>
            <a:ext cx="3520440" cy="0"/>
          </a:xfrm>
          <a:prstGeom prst="line">
            <a:avLst/>
          </a:prstGeom>
          <a:noFill/>
          <a:ln w="38100">
            <a:solidFill>
              <a:srgbClr val="1ED7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4617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D760"/>
                </a:solidFill>
              </a:rPr>
              <a:t>Thank you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154680" y="5349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0AA"/>
                </a:solidFill>
              </a:rPr>
              <a:t>Spotify Listener Statistics — Exploratory Data Analysis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3794760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D760"/>
                </a:solidFill>
                <a:latin typeface="Aptos"/>
              </a:rPr>
              <a:t>By Alok Agarwal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Listener Statistics — Data Science Analysis</dc:title>
  <dc:subject>Spotify Listener Statistics EDA</dc:subject>
  <dc:creator>OpenAI</dc:creator>
  <cp:lastModifiedBy>OpenAI</cp:lastModifiedBy>
  <cp:revision>1</cp:revision>
  <dcterms:created xsi:type="dcterms:W3CDTF">2026-09-03T06:17:37Z</dcterms:created>
  <dcterms:modified xsi:type="dcterms:W3CDTF">2026-09-03T06:17:37Z</dcterms:modified>
</cp:coreProperties>
</file>