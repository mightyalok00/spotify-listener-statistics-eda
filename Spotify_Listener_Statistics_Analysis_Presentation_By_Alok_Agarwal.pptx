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59e4c8a70a4c57" /><Relationship Type="http://schemas.openxmlformats.org/officeDocument/2006/relationships/extended-properties" Target="/docProps/app.xml" Id="R8797536bbfe74a66" /><Relationship Type="http://schemas.openxmlformats.org/officeDocument/2006/relationships/officeDocument" Target="/ppt/presentation.xml" Id="Re32876b9087746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0622ebb6634960"/>
  </p:sldMasterIdLst>
  <p:notesMasterIdLst>
    <p:notesMasterId xmlns:r="http://schemas.openxmlformats.org/officeDocument/2006/relationships" r:id="Rf7ee6d02d26648b5"/>
  </p:notesMasterIdLst>
  <p:sldIdLst>
    <p:sldId xmlns:r="http://schemas.openxmlformats.org/officeDocument/2006/relationships" id="256" r:id="R9e10613a646c4e4f"/>
    <p:sldId xmlns:r="http://schemas.openxmlformats.org/officeDocument/2006/relationships" id="257" r:id="R9eaf35180aa44371"/>
    <p:sldId xmlns:r="http://schemas.openxmlformats.org/officeDocument/2006/relationships" id="258" r:id="Ra004ac70d3db44e2"/>
    <p:sldId xmlns:r="http://schemas.openxmlformats.org/officeDocument/2006/relationships" id="259" r:id="R58119e9e92a5475d"/>
    <p:sldId xmlns:r="http://schemas.openxmlformats.org/officeDocument/2006/relationships" id="260" r:id="R80da49188e2648ea"/>
    <p:sldId xmlns:r="http://schemas.openxmlformats.org/officeDocument/2006/relationships" id="261" r:id="Red107a26a4854370"/>
    <p:sldId xmlns:r="http://schemas.openxmlformats.org/officeDocument/2006/relationships" id="262" r:id="Rf754e872e7e74f06"/>
    <p:sldId xmlns:r="http://schemas.openxmlformats.org/officeDocument/2006/relationships" id="263" r:id="R1a66e484180849ef"/>
    <p:sldId xmlns:r="http://schemas.openxmlformats.org/officeDocument/2006/relationships" id="264" r:id="Rf3ce7d3a27c94935"/>
    <p:sldId xmlns:r="http://schemas.openxmlformats.org/officeDocument/2006/relationships" id="265" r:id="R2e908db83c8f41f4"/>
    <p:sldId xmlns:r="http://schemas.openxmlformats.org/officeDocument/2006/relationships" id="266" r:id="Re5e57b60c0014bb1"/>
    <p:sldId xmlns:r="http://schemas.openxmlformats.org/officeDocument/2006/relationships" id="267" r:id="R6456a671dff94454"/>
    <p:sldId xmlns:r="http://schemas.openxmlformats.org/officeDocument/2006/relationships" id="268" r:id="R2eadd412ec5140ea"/>
    <p:sldId xmlns:r="http://schemas.openxmlformats.org/officeDocument/2006/relationships" id="269" r:id="R0cc9a4e9bfd64836"/>
    <p:sldId xmlns:r="http://schemas.openxmlformats.org/officeDocument/2006/relationships" id="270" r:id="R4f0960efcae54e4d"/>
    <p:sldId xmlns:r="http://schemas.openxmlformats.org/officeDocument/2006/relationships" id="271" r:id="R6352b19c1e6a411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66c9d9f7784d81" /><Relationship Type="http://schemas.openxmlformats.org/officeDocument/2006/relationships/slideMaster" Target="/ppt/slideMasters/slideMaster1.xml" Id="R620622ebb6634960" /><Relationship Type="http://schemas.openxmlformats.org/officeDocument/2006/relationships/notesMaster" Target="/ppt/notesMasters/notesMaster1.xml" Id="Rf7ee6d02d26648b5" /><Relationship Type="http://schemas.openxmlformats.org/officeDocument/2006/relationships/presProps" Target="/ppt/presProps.xml" Id="R22225af64e9c4956" /><Relationship Type="http://schemas.openxmlformats.org/officeDocument/2006/relationships/viewProps" Target="/ppt/viewProps.xml" Id="R7a6ba0db62864281" /><Relationship Type="http://schemas.openxmlformats.org/officeDocument/2006/relationships/tableStyles" Target="/ppt/tableStyles.xml" Id="R7d6b000949154190" /><Relationship Type="http://schemas.openxmlformats.org/officeDocument/2006/relationships/slide" Target="/ppt/slides/slide1.xml" Id="R9e10613a646c4e4f" /><Relationship Type="http://schemas.openxmlformats.org/officeDocument/2006/relationships/slide" Target="/ppt/slides/slide2.xml" Id="R9eaf35180aa44371" /><Relationship Type="http://schemas.openxmlformats.org/officeDocument/2006/relationships/slide" Target="/ppt/slides/slide3.xml" Id="Ra004ac70d3db44e2" /><Relationship Type="http://schemas.openxmlformats.org/officeDocument/2006/relationships/slide" Target="/ppt/slides/slide4.xml" Id="R58119e9e92a5475d" /><Relationship Type="http://schemas.openxmlformats.org/officeDocument/2006/relationships/slide" Target="/ppt/slides/slide5.xml" Id="R80da49188e2648ea" /><Relationship Type="http://schemas.openxmlformats.org/officeDocument/2006/relationships/slide" Target="/ppt/slides/slide6.xml" Id="Red107a26a4854370" /><Relationship Type="http://schemas.openxmlformats.org/officeDocument/2006/relationships/slide" Target="/ppt/slides/slide7.xml" Id="Rf754e872e7e74f06" /><Relationship Type="http://schemas.openxmlformats.org/officeDocument/2006/relationships/slide" Target="/ppt/slides/slide8.xml" Id="R1a66e484180849ef" /><Relationship Type="http://schemas.openxmlformats.org/officeDocument/2006/relationships/slide" Target="/ppt/slides/slide9.xml" Id="Rf3ce7d3a27c94935" /><Relationship Type="http://schemas.openxmlformats.org/officeDocument/2006/relationships/slide" Target="/ppt/slides/slide10.xml" Id="R2e908db83c8f41f4" /><Relationship Type="http://schemas.openxmlformats.org/officeDocument/2006/relationships/slide" Target="/ppt/slides/slide11.xml" Id="Re5e57b60c0014bb1" /><Relationship Type="http://schemas.openxmlformats.org/officeDocument/2006/relationships/slide" Target="/ppt/slides/slide12.xml" Id="R6456a671dff94454" /><Relationship Type="http://schemas.openxmlformats.org/officeDocument/2006/relationships/slide" Target="/ppt/slides/slide13.xml" Id="R2eadd412ec5140ea" /><Relationship Type="http://schemas.openxmlformats.org/officeDocument/2006/relationships/slide" Target="/ppt/slides/slide14.xml" Id="R0cc9a4e9bfd64836" /><Relationship Type="http://schemas.openxmlformats.org/officeDocument/2006/relationships/slide" Target="/ppt/slides/slide15.xml" Id="R4f0960efcae54e4d" /><Relationship Type="http://schemas.openxmlformats.org/officeDocument/2006/relationships/slide" Target="/ppt/slides/slide16.xml" Id="R6352b19c1e6a41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bbecffb65e46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b82347e5574699" /><Relationship Type="http://schemas.openxmlformats.org/officeDocument/2006/relationships/notesMaster" Target="/ppt/notesMasters/notesMaster1.xml" Id="Rb6bbce1d0e2443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7cc46a79fe4300" /><Relationship Type="http://schemas.openxmlformats.org/officeDocument/2006/relationships/notesMaster" Target="/ppt/notesMasters/notesMaster1.xml" Id="R6e172aea485d4e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8c410a44c242c7" /><Relationship Type="http://schemas.openxmlformats.org/officeDocument/2006/relationships/notesMaster" Target="/ppt/notesMasters/notesMaster1.xml" Id="R278de33e9f5f49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9aea26da814c85" /><Relationship Type="http://schemas.openxmlformats.org/officeDocument/2006/relationships/notesMaster" Target="/ppt/notesMasters/notesMaster1.xml" Id="R2859efc77d9243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d9386e200d4f82" /><Relationship Type="http://schemas.openxmlformats.org/officeDocument/2006/relationships/notesMaster" Target="/ppt/notesMasters/notesMaster1.xml" Id="Ra492bbeefd984c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a8d0152cae4e8a" /><Relationship Type="http://schemas.openxmlformats.org/officeDocument/2006/relationships/notesMaster" Target="/ppt/notesMasters/notesMaster1.xml" Id="Ra755f6fb24c54c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f6f09e49c4457e" /><Relationship Type="http://schemas.openxmlformats.org/officeDocument/2006/relationships/notesMaster" Target="/ppt/notesMasters/notesMaster1.xml" Id="R3f492f5f43f344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32000d00384eb0" /><Relationship Type="http://schemas.openxmlformats.org/officeDocument/2006/relationships/notesMaster" Target="/ppt/notesMasters/notesMaster1.xml" Id="Rf1005190b1674f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16e8bc14ff4082" /><Relationship Type="http://schemas.openxmlformats.org/officeDocument/2006/relationships/notesMaster" Target="/ppt/notesMasters/notesMaster1.xml" Id="R170fd4cc8b5249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43e9cd10e14526" /><Relationship Type="http://schemas.openxmlformats.org/officeDocument/2006/relationships/notesMaster" Target="/ppt/notesMasters/notesMaster1.xml" Id="R57291eb0b4f646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68127db3894abe" /><Relationship Type="http://schemas.openxmlformats.org/officeDocument/2006/relationships/notesMaster" Target="/ppt/notesMasters/notesMaster1.xml" Id="R477213ec038142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e7480e392349a3" /><Relationship Type="http://schemas.openxmlformats.org/officeDocument/2006/relationships/notesMaster" Target="/ppt/notesMasters/notesMaster1.xml" Id="R8346ffe19f5e4b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70b616b49c42d8" /><Relationship Type="http://schemas.openxmlformats.org/officeDocument/2006/relationships/notesMaster" Target="/ppt/notesMasters/notesMaster1.xml" Id="R9871660da1b5406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1f06a661eb04e87" /><Relationship Type="http://schemas.openxmlformats.org/officeDocument/2006/relationships/notesMaster" Target="/ppt/notesMasters/notesMaster1.xml" Id="R9a53639fd9c045b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28e0b281d641b4" /><Relationship Type="http://schemas.openxmlformats.org/officeDocument/2006/relationships/notesMaster" Target="/ppt/notesMasters/notesMaster1.xml" Id="R1b34e8c46520499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fefe2010744752" /><Relationship Type="http://schemas.openxmlformats.org/officeDocument/2006/relationships/notesMaster" Target="/ppt/notesMasters/notesMaster1.xml" Id="R284b8bac61484e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0754d18d9946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c4607f445749e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">
    <p:bg>
      <p:bgPr>
        <a:solidFill xmlns:a="http://schemas.openxmlformats.org/drawingml/2006/main">
          <a:srgbClr val="0B0F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1D17071-088C-41E8-B930-50388D5C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D760"/>
          </a:solidFill>
          <a:ln xmlns:a="http://schemas.openxmlformats.org/drawingml/2006/main" w="12700">
            <a:solidFill>
              <a:srgbClr val="1ED760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C1CAC88-6E6A-4706-8B04-1A9207C5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4297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50">
                <a:solidFill>
                  <a:srgbClr val="7F8A83"/>
                </a:solidFill>
                <a:latin typeface="Aptos"/>
                <a:ea typeface="Aptos"/>
                <a:cs typeface="Aptos"/>
              </a:rPr>
              <a:t>SPOTIFY LISTENER STATISTICS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A870429-BCAF-4CC8-8FDD-24901339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28600"/>
            <a:ext cx="2423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F8A83"/>
                </a:solidFill>
                <a:latin typeface="Aptos"/>
                <a:ea typeface="Aptos"/>
                <a:cs typeface="Aptos"/>
              </a:rPr>
              <a:t>Data Science Portfolio Project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2496624-BBA6-4A25-B94C-46ACD074DC0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6c22db91d84f9a" /><Relationship Type="http://schemas.openxmlformats.org/officeDocument/2006/relationships/slideLayout" Target="/ppt/slideLayouts/slideLayout1.xml" Id="R1cece738aa184027" /><Relationship Type="http://schemas.openxmlformats.org/officeDocument/2006/relationships/slideLayout" Target="/ppt/slideLayouts/slideLayout2.xml" Id="R31108aa5317f4a9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6B7E7AB-F116-4BEA-A149-487B7E59550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ece738aa184027"/>
    <p:sldLayoutId xmlns:r="http://schemas.openxmlformats.org/officeDocument/2006/relationships" id="2147483650" r:id="R31108aa5317f4a9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61b5ad3ca49c2" /><Relationship Type="http://schemas.openxmlformats.org/officeDocument/2006/relationships/notesSlide" Target="/ppt/notesSlides/notesSlide1.xml" Id="R4b843ec395ff4b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eab23671fb488b" /><Relationship Type="http://schemas.openxmlformats.org/officeDocument/2006/relationships/notesSlide" Target="/ppt/notesSlides/notesSlide2.xml" Id="Re51d534673584d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a99fa6bb3f4062" /><Relationship Type="http://schemas.openxmlformats.org/officeDocument/2006/relationships/notesSlide" Target="/ppt/notesSlides/notesSlide3.xml" Id="R9bb7bc3e97c041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73500ae39d488b" /><Relationship Type="http://schemas.openxmlformats.org/officeDocument/2006/relationships/notesSlide" Target="/ppt/notesSlides/notesSlide4.xml" Id="Rb4ad376edeb046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d17fe7150b40e5" /><Relationship Type="http://schemas.openxmlformats.org/officeDocument/2006/relationships/image" Target="/ppt/media/image.png" Id="Rd009a1277fb34ff2" /><Relationship Type="http://schemas.openxmlformats.org/officeDocument/2006/relationships/notesSlide" Target="/ppt/notesSlides/notesSlide5.xml" Id="R53d96aae8b4549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64a7baeebd4fcf" /><Relationship Type="http://schemas.openxmlformats.org/officeDocument/2006/relationships/image" Target="/ppt/media/image2.png" Id="Rec2a329fd03b4c81" /><Relationship Type="http://schemas.openxmlformats.org/officeDocument/2006/relationships/notesSlide" Target="/ppt/notesSlides/notesSlide6.xml" Id="R25142b5d80674f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40eae369d4cad" /><Relationship Type="http://schemas.openxmlformats.org/officeDocument/2006/relationships/image" Target="/ppt/media/image3.png" Id="R91b097a1c3ff455e" /><Relationship Type="http://schemas.openxmlformats.org/officeDocument/2006/relationships/notesSlide" Target="/ppt/notesSlides/notesSlide7.xml" Id="Rab87a06593ef47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bd5f6db7274520" /><Relationship Type="http://schemas.openxmlformats.org/officeDocument/2006/relationships/image" Target="/ppt/media/image4.png" Id="Rffb794a57e8b4774" /><Relationship Type="http://schemas.openxmlformats.org/officeDocument/2006/relationships/notesSlide" Target="/ppt/notesSlides/notesSlide8.xml" Id="Rc38b2ef8ea6645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623a04c46a4bcd" /><Relationship Type="http://schemas.openxmlformats.org/officeDocument/2006/relationships/image" Target="/ppt/media/image5.png" Id="R5ab5e455946e49bd" /><Relationship Type="http://schemas.openxmlformats.org/officeDocument/2006/relationships/chart" Target="/ppt/slides/charts/chart1.xml" Id="R539d03549b1540e1" /><Relationship Type="http://schemas.openxmlformats.org/officeDocument/2006/relationships/notesSlide" Target="/ppt/notesSlides/notesSlide9.xml" Id="R531ba342b93648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e288c9f4574995" /><Relationship Type="http://schemas.openxmlformats.org/officeDocument/2006/relationships/image" Target="/ppt/media/image6.png" Id="R9524cf01e4324812" /><Relationship Type="http://schemas.openxmlformats.org/officeDocument/2006/relationships/notesSlide" Target="/ppt/notesSlides/notesSlide10.xml" Id="Rdfd731bea3fd4c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6c0f9a24ba43f2" /><Relationship Type="http://schemas.openxmlformats.org/officeDocument/2006/relationships/image" Target="/ppt/media/image7.png" Id="Rbd8f9205420b4c5d" /><Relationship Type="http://schemas.openxmlformats.org/officeDocument/2006/relationships/notesSlide" Target="/ppt/notesSlides/notesSlide11.xml" Id="Rcafc3464695c488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550d043b254ec1" /><Relationship Type="http://schemas.openxmlformats.org/officeDocument/2006/relationships/image" Target="/ppt/media/image8.png" Id="R026458f1ec9c4c03" /><Relationship Type="http://schemas.openxmlformats.org/officeDocument/2006/relationships/notesSlide" Target="/ppt/notesSlides/notesSlide12.xml" Id="R9bbbb14f9ca34a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6726ac60314244" /><Relationship Type="http://schemas.openxmlformats.org/officeDocument/2006/relationships/image" Target="/ppt/media/image9.png" Id="Rf19e5a3bd2774da9" /><Relationship Type="http://schemas.openxmlformats.org/officeDocument/2006/relationships/notesSlide" Target="/ppt/notesSlides/notesSlide13.xml" Id="Re4a058a3e61f495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a980d064cc402f" /><Relationship Type="http://schemas.openxmlformats.org/officeDocument/2006/relationships/notesSlide" Target="/ppt/notesSlides/notesSlide14.xml" Id="Rb070379a4937464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61bf5f3a6641d6" /><Relationship Type="http://schemas.openxmlformats.org/officeDocument/2006/relationships/notesSlide" Target="/ppt/notesSlides/notesSlide15.xml" Id="Re26253f123234d3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e7732ac584f4d" /><Relationship Type="http://schemas.openxmlformats.org/officeDocument/2006/relationships/notesSlide" Target="/ppt/notesSlides/notesSlide16.xml" Id="R6b23ab3d1c9e4bb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F5F5F5"/>
                </a:solidFill>
                <a:latin typeface="Aptos"/>
                <a:ea typeface="Aptos"/>
                <a:cs typeface="Aptos"/>
              </a:rPr>
              <a:t>Promotion opportunity score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F5F5F5"/>
              </a:solidFill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Score</c:v>
          </c:tx>
          <c:spPr>
            <a:solidFill xmlns:a="http://schemas.openxmlformats.org/drawingml/2006/main">
              <a:srgbClr val="1ED760"/>
            </a:solidFill>
          </c:spPr>
          <c:cat>
            <c:strRef>
              <c:f>'Chart Data'!$A$2:$A$11</c:f>
              <c:strCache>
                <c:ptCount val="10"/>
                <c:pt idx="0">
                  <c:v>Classical</c:v>
                </c:pt>
                <c:pt idx="1">
                  <c:v>Rock</c:v>
                </c:pt>
                <c:pt idx="2">
                  <c:v>Indie</c:v>
                </c:pt>
                <c:pt idx="3">
                  <c:v>K-pop</c:v>
                </c:pt>
                <c:pt idx="4">
                  <c:v>EDM</c:v>
                </c:pt>
                <c:pt idx="5">
                  <c:v>Hip Hop</c:v>
                </c:pt>
                <c:pt idx="6">
                  <c:v>Reggaeton</c:v>
                </c:pt>
                <c:pt idx="7">
                  <c:v>R&amp;B</c:v>
                </c:pt>
                <c:pt idx="8">
                  <c:v>Pop</c:v>
                </c:pt>
                <c:pt idx="9">
                  <c:v>Jazz</c:v>
                </c:pt>
              </c:strCache>
            </c:strRef>
          </c:cat>
          <c:val>
            <c:numRef>
              <c:f>'Chart Data'!$B$2:$B$11</c:f>
              <c:numCache>
                <c:formatCode>General</c:formatCode>
                <c:ptCount val="10"/>
                <c:pt idx="0">
                  <c:v>94</c:v>
                </c:pt>
                <c:pt idx="1">
                  <c:v>78</c:v>
                </c:pt>
                <c:pt idx="2">
                  <c:v>73.5</c:v>
                </c:pt>
                <c:pt idx="3">
                  <c:v>60.5</c:v>
                </c:pt>
                <c:pt idx="4">
                  <c:v>50.5</c:v>
                </c:pt>
                <c:pt idx="5">
                  <c:v>45</c:v>
                </c:pt>
                <c:pt idx="6">
                  <c:v>45</c:v>
                </c:pt>
                <c:pt idx="7">
                  <c:v>43.5</c:v>
                </c:pt>
                <c:pt idx="8">
                  <c:v>34.5</c:v>
                </c:pt>
                <c:pt idx="9">
                  <c:v>25.5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F5F5F5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37415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D1D5DB"/>
                    </a:solidFill>
                    <a:latin typeface="Aptos"/>
                    <a:ea typeface="Aptos"/>
                    <a:cs typeface="Aptos"/>
                  </a:rPr>
                  <a:t>Opportunity score (0–100)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D1D5DB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4B5563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D1D5D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F5F5F5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111827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11827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F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F7F2EE-2D15-44D9-AEB4-8CADFCF8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0C"/>
          </a:solidFill>
          <a:ln xmlns:a="http://schemas.openxmlformats.org/drawingml/2006/main" w="12700">
            <a:solidFill>
              <a:srgbClr val="0B0F0C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F8AC730-EACA-440D-9A69-BB30536D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502920"/>
            <a:ext cx="2377440" cy="2377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D760">
              <a:alpha val="95000"/>
            </a:srgbClr>
          </a:solidFill>
          <a:ln xmlns:a="http://schemas.openxmlformats.org/drawingml/2006/main" w="12700">
            <a:solidFill>
              <a:srgbClr val="1ED760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063EC45-5668-4403-AC57-61C646FA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1033272"/>
            <a:ext cx="1325880" cy="1325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F0C"/>
          </a:solidFill>
          <a:ln xmlns:a="http://schemas.openxmlformats.org/drawingml/2006/main" w="12700">
            <a:solidFill>
              <a:srgbClr val="0B0F0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769AA5-0894-4131-B211-C97795BA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9808"/>
            <a:ext cx="2834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300">
                <a:solidFill>
                  <a:srgbClr val="1ED760"/>
                </a:solidFill>
              </a:rPr>
              <a:t>SPOTIFY</a:t>
            </a:r>
            <a:endParaRPr sz="1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244607D-FED2-45D5-B595-6B92E041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786384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5F7F5"/>
                </a:solidFill>
              </a:rPr>
              <a:t>Listener Statistics</a:t>
            </a:r>
            <a:endParaRPr sz="3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E0A00E4-F883-46DF-8114-A217C7F5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194560"/>
            <a:ext cx="6949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A7B0AA"/>
                </a:solidFill>
              </a:rPr>
              <a:t>Exploratory Data Analysis &amp; Business Insights</a:t>
            </a:r>
            <a:endParaRPr sz="20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2BB182A-E847-42DF-84B6-81D1BCC8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880360"/>
            <a:ext cx="4937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ED760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9B29074-147B-436A-BD44-A4CF2680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54680"/>
            <a:ext cx="7680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5F7F5"/>
                </a:solidFill>
              </a:rPr>
              <a:t>500 records  •  12 variables  •  Countries  •  Artists  •  Genres  •  Platforms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D421572-F463-45DD-8094-07ADD66D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675888"/>
            <a:ext cx="6583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7B0AA"/>
                </a:solidFill>
              </a:rPr>
              <a:t>Python  •  Pandas  •  NumPy  •  Matplotlib  •  Seaborn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866E9F3-3B48-44E2-98D4-D948E775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897880"/>
            <a:ext cx="53035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E68D"/>
                </a:solidFill>
              </a:rPr>
              <a:t>Portfolio-ready data science presentation</a:t>
            </a:r>
            <a:endParaRPr sz="1100"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99B5F5-D7B0-4AC2-8CE5-D8D031D1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60520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ED760"/>
                </a:solidFill>
                <a:latin typeface="Aptos"/>
                <a:ea typeface="Aptos"/>
                <a:cs typeface="Aptos"/>
              </a:rPr>
              <a:t>By Alok Agarwal</a:t>
            </a:r>
          </a:p>
        </p:txBody>
      </p:sp>
    </p:spTree>
    <p:extLst>
      <p:ext uri="{BB962C8B-B14F-4D97-AF65-F5344CB8AC3E}">
        <p14:creationId xmlns:p14="http://schemas.microsoft.com/office/powerpoint/2010/main" val="1553660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307371B-5714-4C4D-ABD0-ACE1CADC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Executive summary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313C5C-7EC1-4F4D-8805-CF4FB812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The headline answers from the cleaned Spotify listener dataset.</a:t>
            </a:r>
            <a:endParaRPr sz="11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FC8491E-1413-4854-8576-8F5A8DB0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00200"/>
            <a:ext cx="1828800" cy="132588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E53F6C2-A8C6-4F12-A5AC-736381E5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746504"/>
            <a:ext cx="14996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TOP ARTIST</a:t>
            </a:r>
            <a:endParaRPr sz="8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C841BB8-A21E-4CB2-8261-656B07A6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039112"/>
            <a:ext cx="14996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BTS</a:t>
            </a:r>
            <a:endParaRPr sz="2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858CFBE-B894-4B2E-B3BF-BE76B715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532888"/>
            <a:ext cx="14996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124,299M streams</a:t>
            </a:r>
            <a:endParaRPr sz="9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70FCE2D-D7FE-4241-97D1-69CEF0F9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600200"/>
            <a:ext cx="1828800" cy="132588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3D4B95D-64CF-4248-A210-8620F590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1746504"/>
            <a:ext cx="14996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TOP COUNTRY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A8B0B8D-F4CF-46C0-A5AA-60455FAE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2039112"/>
            <a:ext cx="14996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Sweden</a:t>
            </a:r>
            <a:endParaRPr sz="2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1D4B7DA-1B5B-4EBA-A370-BD3001C0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2532888"/>
            <a:ext cx="14996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93,450M streams</a:t>
            </a:r>
            <a:endParaRPr sz="9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6082598-7144-4712-BD76-7C243C31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600200"/>
            <a:ext cx="1828800" cy="132588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6BE6F67-5529-4E17-9C4E-AF9C5CF8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1746504"/>
            <a:ext cx="14996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TOP GENRE</a:t>
            </a:r>
            <a:endParaRPr sz="8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7383C7B-A466-4AF5-B441-07B2347A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039112"/>
            <a:ext cx="14996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Classical</a:t>
            </a:r>
            <a:endParaRPr sz="2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271401A-E727-407C-9225-DA3AF09E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32888"/>
            <a:ext cx="14996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197,277M streams</a:t>
            </a:r>
            <a:endParaRPr sz="9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2512531-961D-4CAD-9486-E1685C4C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00200"/>
            <a:ext cx="1828800" cy="132588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D9D0697-1CD3-4FFF-97BD-28902CEB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46504"/>
            <a:ext cx="14996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RECENT LEADER</a:t>
            </a:r>
            <a:endParaRPr sz="8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7C0074F-E702-49FA-ABBB-F2BDF29F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039112"/>
            <a:ext cx="14996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Dua Lipa</a:t>
            </a:r>
            <a:endParaRPr sz="2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B8532AF-07E4-4D97-8510-F74F0BF2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532888"/>
            <a:ext cx="14996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4,422M / 30 days</a:t>
            </a:r>
            <a:endParaRPr sz="9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AFFCC56-3F12-406D-B769-46F10052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00200"/>
            <a:ext cx="1828800" cy="132588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53BA17E-FAE1-474A-B56C-07EF2511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1746504"/>
            <a:ext cx="14996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BEST ENGAGEMENT</a:t>
            </a:r>
            <a:endParaRPr sz="8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D3C1EB6-90F2-4991-A23D-B7F91A13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039112"/>
            <a:ext cx="14996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France</a:t>
            </a:r>
            <a:endParaRPr sz="2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7EDACF2-8B9F-4CE3-9822-ADFE270E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532888"/>
            <a:ext cx="14996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261.02 ratio</a:t>
            </a:r>
            <a:endParaRPr sz="9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63828FE-C8BB-4B49-A980-14236E5E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1600200"/>
            <a:ext cx="1170432" cy="132588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51CDFD4-4B52-4A13-8659-C6782C92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8752" y="1746504"/>
            <a:ext cx="8412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SKIP CORR.</a:t>
            </a:r>
            <a:endParaRPr sz="8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4555A33-BB4C-421E-9D2A-2B9B040A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8752" y="2039112"/>
            <a:ext cx="8412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−0.022</a:t>
            </a:r>
            <a:endParaRPr sz="22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ED6A442-D8DD-477E-B8DE-CAAA0301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8752" y="2532888"/>
            <a:ext cx="8412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No relationship</a:t>
            </a:r>
            <a:endParaRPr sz="9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35D4965-BB71-425A-91D7-5A6E6DBA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6120"/>
            <a:ext cx="5303520" cy="228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C5F70BF-C929-4263-8FDA-9410B906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410712"/>
            <a:ext cx="49011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BUSINESS TAKEAWAY</a:t>
            </a:r>
            <a:endParaRPr sz="8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6AA7D65-8D62-4609-9BA9-A99404FF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685032"/>
            <a:ext cx="4901184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Popularity ≠ engagement</a:t>
            </a:r>
            <a:endParaRPr sz="22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E13AE77-11CC-43AC-B53A-99DE54CE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4233672"/>
            <a:ext cx="4901184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Use reach, historical volume, recent momentum, engagement, and skip behavior together when making portfolio decisions.</a:t>
            </a:r>
            <a:endParaRPr sz="10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7EC39DB0-2DDE-40A2-AC34-25301D6F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46120"/>
            <a:ext cx="5422392" cy="228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773414D-82CA-4272-AF08-DC3DCA24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410712"/>
            <a:ext cx="50200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STRATEGIC DIRECTION</a:t>
            </a:r>
            <a:endParaRPr sz="8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DF9ECD7-6C23-451A-BDF3-90297672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685032"/>
            <a:ext cx="502005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Defend scale. Invest in momentum.</a:t>
            </a:r>
            <a:endParaRPr sz="22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AAC326C-0BC9-428D-BD5A-82BD338B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4233672"/>
            <a:ext cx="5020056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Protect BTS scale, test added Classical promotion, support Dua Lipa’s recent momentum, and use France for retention-focused campaigns.</a:t>
            </a:r>
            <a:endParaRPr sz="1050"/>
          </a:p>
        </p:txBody>
      </p:sp>
      <p:sp>
        <p:nvSpPr>
          <p:cNvPr id="3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192A841-6EA7-4A25-B0AA-65A4DBA5D8C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79447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1773DAE-1711-4CE5-99BF-4FEF7309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Business objective &amp; analytical workflow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0DD1EEF-7FFE-4321-81C4-491A131E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The project converts listening metrics into market, content, and subscription decisions.</a:t>
            </a:r>
            <a:endParaRPr sz="11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7E64820-16DD-4DAA-BE68-B7B20E93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4754880" cy="448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177800" indent="-177800">
              <a:buSzPct val="100000"/>
              <a:buChar char="•"/>
            </a:pPr>
            <a:r>
              <a:rPr sz="1500">
                <a:solidFill>
                  <a:srgbClr val="F5F7F5"/>
                </a:solidFill>
              </a:rPr>
              <a:t>Identify the strongest countries and regions</a:t>
            </a:r>
            <a:endParaRPr sz="150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500">
                <a:solidFill>
                  <a:srgbClr val="F5F7F5"/>
                </a:solidFill>
              </a:rPr>
              <a:t>Rank artists, genres, and albums by performance</a:t>
            </a:r>
            <a:endParaRPr sz="150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500">
                <a:solidFill>
                  <a:srgbClr val="F5F7F5"/>
                </a:solidFill>
              </a:rPr>
              <a:t>Compare Free and Premium listening behavior</a:t>
            </a:r>
            <a:endParaRPr sz="150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500">
                <a:solidFill>
                  <a:srgbClr val="F5F7F5"/>
                </a:solidFill>
              </a:rPr>
              <a:t>Measure engagement and skip-rate patterns</a:t>
            </a:r>
            <a:endParaRPr sz="150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500">
                <a:solidFill>
                  <a:srgbClr val="F5F7F5"/>
                </a:solidFill>
              </a:rPr>
              <a:t>Evaluate recent streaming and release-year trends</a:t>
            </a:r>
            <a:endParaRPr sz="150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500">
                <a:solidFill>
                  <a:srgbClr val="F5F7F5"/>
                </a:solidFill>
              </a:rPr>
              <a:t>Translate findings into business recommendations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6090D74-0AA6-42F3-978C-DFD02F14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20240"/>
            <a:ext cx="65836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3732BD4-6B26-4C22-A4DE-28A2D7A1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48840"/>
            <a:ext cx="6583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F7F5"/>
                </a:solidFill>
              </a:rPr>
              <a:t>Load</a:t>
            </a:r>
            <a:endParaRPr sz="8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1FAA715-944C-42BD-AB47-501B8186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139696"/>
            <a:ext cx="164592" cy="201168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08079"/>
          </a:solidFill>
          <a:ln xmlns:a="http://schemas.openxmlformats.org/drawingml/2006/main" w="12700">
            <a:solidFill>
              <a:srgbClr val="708079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1FDEB62-A338-4A4C-A881-912C588F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920240"/>
            <a:ext cx="65836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DB18C4A-FF04-4FF4-942D-566DBF8B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2148840"/>
            <a:ext cx="6583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F7F5"/>
                </a:solidFill>
              </a:rPr>
              <a:t>Validate</a:t>
            </a:r>
            <a:endParaRPr sz="8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2DC62D3-355C-4A59-8AD7-1A8D315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2139696"/>
            <a:ext cx="164592" cy="201168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08079"/>
          </a:solidFill>
          <a:ln xmlns:a="http://schemas.openxmlformats.org/drawingml/2006/main" w="12700">
            <a:solidFill>
              <a:srgbClr val="708079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77884CA-53A1-4D85-9402-30876E60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344" y="1920240"/>
            <a:ext cx="65836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1E02AC1-53CD-4645-BD15-82D1ED1E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344" y="2148840"/>
            <a:ext cx="6583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F7F5"/>
                </a:solidFill>
              </a:rPr>
              <a:t>Clean</a:t>
            </a:r>
            <a:endParaRPr sz="8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CB0E2F9-7063-48E9-BDB3-76B3D346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2139696"/>
            <a:ext cx="164592" cy="201168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08079"/>
          </a:solidFill>
          <a:ln xmlns:a="http://schemas.openxmlformats.org/drawingml/2006/main" w="12700">
            <a:solidFill>
              <a:srgbClr val="708079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5DE8444-3B0C-4262-9975-3924DFF5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9016" y="1920240"/>
            <a:ext cx="65836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D96B144-BA70-4795-8F48-45F72D92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9016" y="2148840"/>
            <a:ext cx="6583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F7F5"/>
                </a:solidFill>
              </a:rPr>
              <a:t>Explore</a:t>
            </a:r>
            <a:endParaRPr sz="8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5FCDAB1-4424-4D0E-81E1-F3B371C4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139696"/>
            <a:ext cx="164592" cy="201168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08079"/>
          </a:solidFill>
          <a:ln xmlns:a="http://schemas.openxmlformats.org/drawingml/2006/main" w="12700">
            <a:solidFill>
              <a:srgbClr val="708079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E6277DB-C49D-4E90-9027-C26E6E05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920240"/>
            <a:ext cx="65836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1B5F09E-BB6E-41C1-9A6D-7659971F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2148840"/>
            <a:ext cx="6583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F7F5"/>
                </a:solidFill>
              </a:rPr>
              <a:t>Analyze</a:t>
            </a:r>
            <a:endParaRPr sz="8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2E38B92-FA64-4FF2-B96F-8C8ED1C2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2139696"/>
            <a:ext cx="164592" cy="201168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08079"/>
          </a:solidFill>
          <a:ln xmlns:a="http://schemas.openxmlformats.org/drawingml/2006/main" w="12700">
            <a:solidFill>
              <a:srgbClr val="708079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255E158-A96E-4A51-A476-A1F378C6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1920240"/>
            <a:ext cx="65836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43BCF7-88AE-432B-9F74-C69EB89B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2148840"/>
            <a:ext cx="6583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F7F5"/>
                </a:solidFill>
              </a:rPr>
              <a:t>Answer</a:t>
            </a:r>
            <a:endParaRPr sz="8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19F7A12-5A8A-48EC-B242-D6E05FF3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139696"/>
            <a:ext cx="164592" cy="201168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08079"/>
          </a:solidFill>
          <a:ln xmlns:a="http://schemas.openxmlformats.org/drawingml/2006/main" w="12700">
            <a:solidFill>
              <a:srgbClr val="708079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B349E6A-CE5A-48D8-838E-512DDBDC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3032" y="1920240"/>
            <a:ext cx="65836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D760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F8CEAE4-2AFE-48CC-8976-A5E86BA6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3032" y="2148840"/>
            <a:ext cx="6583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0B0F0C"/>
                </a:solidFill>
              </a:rPr>
              <a:t>Recommend</a:t>
            </a:r>
            <a:endParaRPr sz="8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395ABB0-DBD6-473E-BFD2-6C967776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54680"/>
            <a:ext cx="5486400" cy="2057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EDEC11D-B1EA-41A1-BF48-9C777D26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6168" y="3319272"/>
            <a:ext cx="50840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CORE QUESTION</a:t>
            </a:r>
            <a:endParaRPr sz="8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C080595-E474-4274-90F3-475F8B7A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6168" y="3593592"/>
            <a:ext cx="5084064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Where should Spotify focus next?</a:t>
            </a:r>
            <a:endParaRPr sz="22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9B75595-4B5B-4C3E-90AE-CC62DFD6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6168" y="4142232"/>
            <a:ext cx="5084064" cy="941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Use the dataset to distinguish high-reach markets, high-volume artists, high-engagement audiences, and content with current momentum.</a:t>
            </a:r>
            <a:endParaRPr sz="105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06BAB4-586D-4CCA-9CEA-F75678C56D9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58188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0BE3FA6-78D5-419A-97EB-224E0929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072"/>
            <a:ext cx="7909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Dataset overview &amp; data quality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FEF22AD-A731-439A-AF0F-FB9A4AAA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78992"/>
            <a:ext cx="10744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The cleaned dataset is analysis-ready with no missing or duplicate records.</a:t>
            </a:r>
            <a:endParaRPr sz="11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3DC8A21-6613-4BEE-894F-E08FDAD2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205740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049B550-A73A-4513-836C-827BB244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700784"/>
            <a:ext cx="17282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ROWS</a:t>
            </a:r>
            <a:endParaRPr sz="8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7B602BD-92BC-4985-97DA-2D33C498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993392"/>
            <a:ext cx="17282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500</a:t>
            </a:r>
            <a:endParaRPr sz="2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FE574D4-4F46-433D-AF23-C9F42542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87168"/>
            <a:ext cx="17282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Clean observations</a:t>
            </a:r>
            <a:endParaRPr sz="9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7FD9DB6-105D-4282-9C9A-46BDB7C9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554480"/>
            <a:ext cx="205740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D159F3A-B3D9-41DE-802D-ED794058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232" y="1700784"/>
            <a:ext cx="17282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VARIABLES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517950C-B87C-44BC-82A5-E374980A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232" y="1993392"/>
            <a:ext cx="17282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12</a:t>
            </a:r>
            <a:endParaRPr sz="2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6162373-2DC3-441A-9E44-B160615B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232" y="2487168"/>
            <a:ext cx="17282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Categorical + numeric</a:t>
            </a:r>
            <a:endParaRPr sz="9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09E7DA0-7275-4626-B3DC-F889EA5D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554480"/>
            <a:ext cx="205740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5B7ADC3-FF58-4F4C-AF40-90FB718A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00784"/>
            <a:ext cx="17282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MISSING VALUES</a:t>
            </a:r>
            <a:endParaRPr sz="8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8466ED8-17B0-4D17-B875-25B8705A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993392"/>
            <a:ext cx="17282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0</a:t>
            </a:r>
            <a:endParaRPr sz="2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CF3728E-DC27-496D-8F76-2F715AD2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487168"/>
            <a:ext cx="17282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Complete fields</a:t>
            </a:r>
            <a:endParaRPr sz="9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16E34BD-36C8-4098-9A7D-D6B4367B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554480"/>
            <a:ext cx="205740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0F1A8CB-9F24-4847-B455-BC6017DA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1700784"/>
            <a:ext cx="17282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DUPLICATES</a:t>
            </a:r>
            <a:endParaRPr sz="8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B914994-EEAF-41F1-8F6B-D0096D2A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1993392"/>
            <a:ext cx="17282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0</a:t>
            </a:r>
            <a:endParaRPr sz="2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D583C31-6F16-40FA-AEA9-BFB97452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487168"/>
            <a:ext cx="17282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No repeated rows</a:t>
            </a:r>
            <a:endParaRPr sz="9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9E51B7A-D622-4540-8892-A019D09F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1554480"/>
            <a:ext cx="205740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137C196-B609-4EF9-B1E8-AA22C837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1700784"/>
            <a:ext cx="17282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RELEASE YEARS</a:t>
            </a:r>
            <a:endParaRPr sz="8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963C062-4893-43A1-AFF8-8FADB43C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1993392"/>
            <a:ext cx="172821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2018–2023</a:t>
            </a:r>
            <a:endParaRPr sz="2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4490D7B-8377-46FE-AA72-D345A53F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2487168"/>
            <a:ext cx="172821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6 cohorts</a:t>
            </a:r>
            <a:endParaRPr sz="9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1E76871-7EBA-4252-81CD-A98B84F5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3756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5F7F5"/>
                </a:solidFill>
              </a:rPr>
              <a:t>Key analytical measures</a:t>
            </a:r>
            <a:endParaRPr sz="1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42F92DE-D95A-4B6C-8D07-60E5B7B0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4760"/>
            <a:ext cx="512064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77800" indent="-177800">
              <a:buSzPct val="100000"/>
              <a:buChar char="•"/>
            </a:pPr>
            <a:r>
              <a:rPr sz="1350">
                <a:solidFill>
                  <a:srgbClr val="F5F7F5"/>
                </a:solidFill>
              </a:rPr>
              <a:t>Monthly listeners</a:t>
            </a:r>
            <a:r>
              <a:rPr sz="1350">
                <a:solidFill>
                  <a:srgbClr val="F5F7F5"/>
                </a:solidFill>
              </a:rPr>
              <a:t>:</a:t>
            </a:r>
            <a:r>
              <a:rPr sz="1350">
                <a:solidFill>
                  <a:srgbClr val="F5F7F5"/>
                </a:solidFill>
              </a:rPr>
              <a:t> audience reach</a:t>
            </a:r>
            <a:endParaRPr sz="135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350">
                <a:solidFill>
                  <a:srgbClr val="F5F7F5"/>
                </a:solidFill>
              </a:rPr>
              <a:t>Total streams</a:t>
            </a:r>
            <a:r>
              <a:rPr sz="1350">
                <a:solidFill>
                  <a:srgbClr val="F5F7F5"/>
                </a:solidFill>
              </a:rPr>
              <a:t>:</a:t>
            </a:r>
            <a:r>
              <a:rPr sz="1350">
                <a:solidFill>
                  <a:srgbClr val="F5F7F5"/>
                </a:solidFill>
              </a:rPr>
              <a:t> historical popularity</a:t>
            </a:r>
            <a:endParaRPr sz="135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350">
                <a:solidFill>
                  <a:srgbClr val="F5F7F5"/>
                </a:solidFill>
              </a:rPr>
              <a:t>Streaming hours</a:t>
            </a:r>
            <a:r>
              <a:rPr sz="1350">
                <a:solidFill>
                  <a:srgbClr val="F5F7F5"/>
                </a:solidFill>
              </a:rPr>
              <a:t>:</a:t>
            </a:r>
            <a:r>
              <a:rPr sz="1350">
                <a:solidFill>
                  <a:srgbClr val="F5F7F5"/>
                </a:solidFill>
              </a:rPr>
              <a:t> engagement depth</a:t>
            </a:r>
            <a:endParaRPr sz="135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350">
                <a:solidFill>
                  <a:srgbClr val="F5F7F5"/>
                </a:solidFill>
              </a:rPr>
              <a:t>Last 30 days</a:t>
            </a:r>
            <a:r>
              <a:rPr sz="1350">
                <a:solidFill>
                  <a:srgbClr val="F5F7F5"/>
                </a:solidFill>
              </a:rPr>
              <a:t>:</a:t>
            </a:r>
            <a:r>
              <a:rPr sz="1350">
                <a:solidFill>
                  <a:srgbClr val="F5F7F5"/>
                </a:solidFill>
              </a:rPr>
              <a:t> current momentum</a:t>
            </a:r>
            <a:endParaRPr sz="135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350">
                <a:solidFill>
                  <a:srgbClr val="F5F7F5"/>
                </a:solidFill>
              </a:rPr>
              <a:t>Skip rate</a:t>
            </a:r>
            <a:r>
              <a:rPr sz="1350">
                <a:solidFill>
                  <a:srgbClr val="F5F7F5"/>
                </a:solidFill>
              </a:rPr>
              <a:t>:</a:t>
            </a:r>
            <a:r>
              <a:rPr sz="1350">
                <a:solidFill>
                  <a:srgbClr val="F5F7F5"/>
                </a:solidFill>
              </a:rPr>
              <a:t> retention / content fit</a:t>
            </a:r>
            <a:endParaRPr sz="1350"/>
          </a:p>
          <a:p xmlns:a="http://schemas.openxmlformats.org/drawingml/2006/main">
            <a:pPr marL="177800" indent="-177800">
              <a:buSzPct val="100000"/>
              <a:buChar char="•"/>
            </a:pPr>
            <a:r>
              <a:rPr sz="1350">
                <a:solidFill>
                  <a:srgbClr val="F5F7F5"/>
                </a:solidFill>
              </a:rPr>
              <a:t>Platform type</a:t>
            </a:r>
            <a:r>
              <a:rPr sz="1350">
                <a:solidFill>
                  <a:srgbClr val="F5F7F5"/>
                </a:solidFill>
              </a:rPr>
              <a:t>:</a:t>
            </a:r>
            <a:r>
              <a:rPr sz="1350">
                <a:solidFill>
                  <a:srgbClr val="F5F7F5"/>
                </a:solidFill>
              </a:rPr>
              <a:t> Free vs Premium behavior</a:t>
            </a:r>
            <a:endParaRPr sz="13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6D1AD92-B431-4495-A824-1B43AB2B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29000"/>
            <a:ext cx="5257800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AC14F60-B6D6-4D3D-90E8-4761D632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593592"/>
            <a:ext cx="48554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DATA QUALITY ANSWER</a:t>
            </a:r>
            <a:endParaRPr sz="8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FEB2133-EB05-4803-8BC2-460A8E40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867912"/>
            <a:ext cx="4855464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Ready for EDA</a:t>
            </a:r>
            <a:endParaRPr sz="22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DC6F085-55CD-45B1-BB31-732FCCCB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4416552"/>
            <a:ext cx="4855464" cy="1216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No imputation or duplicate removal is required in the final cleaned dataset. Interpret results within this supplied project dataset, not as Spotify proprietary performance.</a:t>
            </a:r>
            <a:endParaRPr sz="1050"/>
          </a:p>
        </p:txBody>
      </p:sp>
      <p:sp>
        <p:nvSpPr>
          <p:cNvPr id="3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AB9A46E-5F3E-49A1-BF8E-B3AA4D7BA59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744459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6A2083-48DD-49B7-9EBB-83435AD8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Regional performance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4571DC-3238-46C3-9F3E-F7D0CA80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Sweden leads total streams, while Russia leads listener reach.</a:t>
            </a:r>
            <a:endParaRPr sz="1150"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9a1277fb34f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08760"/>
            <a:ext cx="7178040" cy="44805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E40375C5-CDE4-45F7-AC6B-87A727F7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72768"/>
            <a:ext cx="3639312" cy="1691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11BF46C-DD3B-4A5E-BC2B-7203422B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73736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ANSWER: MOST STREAMS</a:t>
            </a:r>
            <a:endParaRPr sz="8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02817FC-0849-4DF0-B63B-800DDBD3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01168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Sweden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B96F65C-BE9C-47C6-9B24-00E8590B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560320"/>
            <a:ext cx="3236976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93,449.76M total streams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8E41F9D-41B0-45DE-A31B-9E312E4F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93008"/>
            <a:ext cx="3639312" cy="1691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C596795-98FD-4BBD-A047-CAC29A7F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65760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ANSWER: LARGEST AUDIENCE</a:t>
            </a: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B200195-465D-47A2-B90C-44B45036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93192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Russia</a:t>
            </a:r>
            <a:endParaRPr sz="2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C515C75-79A3-4F12-9400-DB44F90D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480560"/>
            <a:ext cx="3236976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1,603.45M aggregated monthly listeners</a:t>
            </a:r>
            <a:endParaRPr sz="10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02828EA-2A4B-46C3-9D40-ADB7C81E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5532120"/>
            <a:ext cx="349300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64E68D"/>
                </a:solidFill>
              </a:rPr>
              <a:t>Implication: audience size and streaming volume should be managed as separate dimensions.</a:t>
            </a:r>
            <a:endParaRPr sz="11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B909E1-7FB3-4F7E-B9A5-20D4169FA25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05270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4A63223-5CBE-47E2-8EEF-96522AA7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072"/>
            <a:ext cx="7909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Regional engagement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998CD25-39B3-4EE2-B443-C11ED5A9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France produces the deepest listening relative to audience size.</a:t>
            </a:r>
            <a:endParaRPr sz="1150"/>
          </a:p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a329fd03b4c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08760"/>
            <a:ext cx="7178040" cy="44805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D0EBFFFF-2C72-48F9-B30D-33600800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72768"/>
            <a:ext cx="3639312" cy="1737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D4D91DE-A196-42D6-8A7D-FE66F636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73736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STRONGEST ENGAGEMENT</a:t>
            </a:r>
            <a:endParaRPr sz="8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27D2609-0240-47D4-9A29-8ED0C147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01168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France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37BC165-47B2-4E64-B063-626DE801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560320"/>
            <a:ext cx="32369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261.02 total-hours / monthly-listener ratio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A16D8FD-56C5-4DA0-AE3A-53810222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611880"/>
            <a:ext cx="3639312" cy="1783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D1A7F9F-6170-440A-B83F-6DEE44CA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776472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CURRENT MOMENTUM</a:t>
            </a: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EE9C150-5274-4FBF-A546-C74688BC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050792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Italy</a:t>
            </a:r>
            <a:endParaRPr sz="2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7650CD3-5101-427A-8105-54FE119D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599432"/>
            <a:ext cx="3236976" cy="667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3,227.25M streams in the last 30 days</a:t>
            </a:r>
            <a:endParaRPr sz="10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E16FD6B-84E9-4745-A72B-B2F6E6BE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623560"/>
            <a:ext cx="3520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7B0AA"/>
                </a:solidFill>
              </a:rPr>
              <a:t>Priority use cases: retention, Premium conversion, long-session playlists, and localized artist campaigns.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E144B77-67A2-4408-975D-45BB14B090F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0A037F-B253-42DF-A0ED-C12CD7DA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76900"/>
            <a:ext cx="257175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D1D5D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D1D5DB"/>
                </a:solidFill>
                <a:latin typeface="Aptos"/>
                <a:ea typeface="Aptos"/>
                <a:cs typeface="Aptos"/>
              </a:rPr>
              <a:t>Engagement score</a:t>
            </a:r>
          </a:p>
        </p:txBody>
      </p:sp>
    </p:spTree>
    <p:extLst>
      <p:ext uri="{BB962C8B-B14F-4D97-AF65-F5344CB8AC3E}">
        <p14:creationId xmlns:p14="http://schemas.microsoft.com/office/powerpoint/2010/main" val="20622883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FF18E3A-181E-4B4C-ADC1-A72D5080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Artist performance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A65BA0-FE24-4756-B923-8F12A0DE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BTS dominates historical scale; Dua Lipa leads current momentum.</a:t>
            </a:r>
            <a:endParaRPr sz="1150"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b097a1c3ff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08760"/>
            <a:ext cx="7178040" cy="44805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A9525097-E050-47F7-9348-19DB65C6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72768"/>
            <a:ext cx="3639312" cy="1691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94E8054-7DB5-4889-BA8E-7D621311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73736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ANSWER: HIGHEST VOLUME</a:t>
            </a:r>
            <a:endParaRPr sz="8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E5BF94D-D42F-4D80-8D92-B6A4F394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01168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BTS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DE11BB9-C872-4011-8C04-D1140874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560320"/>
            <a:ext cx="3236976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124,299.47M total streams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E122B7CA-4FB5-4F87-96C7-9A4E19B3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93008"/>
            <a:ext cx="3639312" cy="1691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D59803-7FF6-4B0F-B2A7-29A1CEAF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65760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ANSWER: STRONGEST RECENT</a:t>
            </a: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DFD50B0-CAFF-487B-81C8-0B650C0C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93192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Dua Lipa</a:t>
            </a:r>
            <a:endParaRPr sz="2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941CC6A-ECBF-4C20-BC7A-DBEEBC1D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480560"/>
            <a:ext cx="3236976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4,422.26M streams in the last 30 days</a:t>
            </a:r>
            <a:endParaRPr sz="10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2065C28-D9D5-4AE3-80C8-7B2CA3A4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5559552"/>
            <a:ext cx="349300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E68D"/>
                </a:solidFill>
              </a:rPr>
              <a:t>BTS also has the largest aggregated monthly-listener reach at 2,770.65M.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C9CD7CC-8584-40ED-81C6-F5DF6E911D2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0634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2D0CC32-B286-4BC6-BD1E-33489861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072"/>
            <a:ext cx="7909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Artist engagement &amp; retention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013C8A9-7C17-4F95-95BF-C8C82F73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High-value artists are not always the same as high-volume artists.</a:t>
            </a:r>
            <a:endParaRPr sz="1150"/>
          </a:p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794a57e8b47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08760"/>
            <a:ext cx="7178040" cy="44805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5C6B7F15-A944-4E05-86BD-8BF2D0F9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72768"/>
            <a:ext cx="3639312" cy="1691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289C364-E2B5-4F70-8130-285DDECE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73736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STRONGEST ENGAGEMENT</a:t>
            </a:r>
            <a:endParaRPr sz="8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3A5C5C5-7740-4834-9236-6E750448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01168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Dua Lipa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4AD16D4-B4A4-416F-A7C7-9140605B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560320"/>
            <a:ext cx="3236976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246.49 engagement ratio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5EE4E125-E9CF-401D-9C12-4BD73B35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93008"/>
            <a:ext cx="3639312" cy="1691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1F5CB05-139B-4B06-B692-84A55406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65760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LOWEST SKIP RATE</a:t>
            </a: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0B2C09-F81F-4F6F-9379-0DB0809D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93192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BLACKPINK</a:t>
            </a:r>
            <a:endParaRPr sz="2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69105C-0E42-41D7-BE2F-09EC0E5E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480560"/>
            <a:ext cx="3236976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16.05% average skip rate</a:t>
            </a:r>
            <a:endParaRPr sz="10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1BF7AD8-056C-47FE-8C4E-E6CDA31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559552"/>
            <a:ext cx="352958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7B0AA"/>
                </a:solidFill>
              </a:rPr>
              <a:t>Recommendation: use both engagement and skip behavior when selecting artists for discovery and retention playlists.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C217F86-8505-4230-851F-70CC6C673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41E2B9-0DE7-4EAC-AAB1-A568F6A7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76900"/>
            <a:ext cx="257175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D1D5D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D1D5DB"/>
                </a:solidFill>
                <a:latin typeface="Aptos"/>
                <a:ea typeface="Aptos"/>
                <a:cs typeface="Aptos"/>
              </a:rPr>
              <a:t>Engagement score</a:t>
            </a:r>
          </a:p>
        </p:txBody>
      </p:sp>
    </p:spTree>
    <p:extLst>
      <p:ext uri="{BB962C8B-B14F-4D97-AF65-F5344CB8AC3E}">
        <p14:creationId xmlns:p14="http://schemas.microsoft.com/office/powerpoint/2010/main" val="59685132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BBBFE03-E770-4AF8-A190-30CC50B4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Genre performance &amp; promotion opportunity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80D299-ABB7-47BE-978F-6ABDC5E9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Classical leads both scale and the balanced promotion opportunity score.</a:t>
            </a:r>
            <a:endParaRPr sz="1150"/>
          </a:p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b5e455946e49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463040"/>
            <a:ext cx="5577840" cy="4343400"/>
          </a:xfrm>
          <a:prstGeom xmlns:a="http://schemas.openxmlformats.org/drawingml/2006/main" prst="rect">
            <a:avLst/>
          </a:prstGeom>
        </p:spPr>
      </p:pic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DE8FD741-CF4B-4E2B-9CA4-AE7BE749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5897880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64E68D"/>
                </a:solidFill>
              </a:rPr>
              <a:t>Scale answer: Classical leads total streams, listeners, and recent streams.</a:t>
            </a:r>
            <a:endParaRPr sz="112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3D64ED8D-90AA-48E8-843B-702F368C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897880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64E68D"/>
                </a:solidFill>
              </a:rPr>
              <a:t>Promotion answer: Classical ranks first on the balanced opportunity score at 94.0.</a:t>
            </a:r>
            <a:endParaRPr sz="112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BE15459-0704-45AB-984D-95864EA3B4F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126480" y="1463040"/>
          <a:ext xmlns:a="http://schemas.openxmlformats.org/drawingml/2006/main" cx="5577840" cy="43434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39d03549b1540e1"/>
          </a:graphicData>
        </a:graphic>
      </p:graphicFrame>
    </p:spTree>
    <p:extLst>
      <p:ext uri="{BB962C8B-B14F-4D97-AF65-F5344CB8AC3E}">
        <p14:creationId xmlns:p14="http://schemas.microsoft.com/office/powerpoint/2010/main" val="16137778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5AB52F-6615-4FBD-A00E-8CB1CC8E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Album performance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67B9588-F5DF-4AC1-9357-4CD9321B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The highest-volume albums mirror the strongest artist franchises.</a:t>
            </a:r>
            <a:endParaRPr sz="1150"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4cf01e43248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08760"/>
            <a:ext cx="7178040" cy="44805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A6EAD366-07CF-4732-B9B7-D8548F4D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72768"/>
            <a:ext cx="3639312" cy="1737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1111EE1-B123-445B-9994-CD15148C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73736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ANSWER: TOP ALBUM</a:t>
            </a:r>
            <a:endParaRPr sz="8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5755C1B-E8C7-45E4-BD56-85E2AE8C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01168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BTS — Proof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5A9312A7-342A-4DDD-9249-8DD58F76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560320"/>
            <a:ext cx="32369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124,299.47M total streams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DB6CCDB-3F8F-4E9E-94E9-A48A088B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611880"/>
            <a:ext cx="3639312" cy="1737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C0EDC4A-E279-49F7-AF6D-7070B5F5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776472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RECENT MOMENTUM</a:t>
            </a: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A16496-DDEC-42FD-9671-ABB71C14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050792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Future Nostalgia</a:t>
            </a:r>
            <a:endParaRPr sz="2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CB91A36-F939-4339-AE06-D1681636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599432"/>
            <a:ext cx="32369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Dua Lipa: 4,422.26M recent streams</a:t>
            </a:r>
            <a:endParaRPr sz="10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EC8587C-17A2-42EA-8CE0-21D4931C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5623560"/>
            <a:ext cx="3474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7B0AA"/>
                </a:solidFill>
              </a:rPr>
              <a:t>Use historical album scale for catalog value and recent streams for campaign timing.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5D576A0-046F-4FA6-99DA-D7F5B733EB5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028638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FE4114B-C27C-4EF4-A5D3-AC010D18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Free vs Premium behavior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1DB077-F56B-4CD4-A971-EA9ED99A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Premium records show deeper engagement even with similar average stream duration.</a:t>
            </a:r>
            <a:endParaRPr sz="1150"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8f9205420b4c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600200"/>
            <a:ext cx="6492240" cy="42519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E7602D25-0BD7-455F-94E2-2C6B4389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600200"/>
            <a:ext cx="187452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4FB31B2-1F50-4DB0-8EA1-2D78CFA1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746504"/>
            <a:ext cx="154533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FREE HOURS/LISTENER</a:t>
            </a:r>
            <a:endParaRPr sz="8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C639357-2E80-494E-93E4-4E53A226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039112"/>
            <a:ext cx="154533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170.20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4AAABDC-6ADA-4E15-95DA-E3127F86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532888"/>
            <a:ext cx="154533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Avg skip 20.47%</a:t>
            </a:r>
            <a:endParaRPr sz="9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271C2B5-269F-4859-99CF-9194C4B2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00200"/>
            <a:ext cx="187452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D031E68-7D96-4C32-A583-C7481369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192" y="1746504"/>
            <a:ext cx="154533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A7B0AA"/>
                </a:solidFill>
              </a:rPr>
              <a:t>PREMIUM HOURS/LISTENER</a:t>
            </a: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8F385E7-30F5-424D-898F-5D28E668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192" y="2039112"/>
            <a:ext cx="154533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180.87</a:t>
            </a:r>
            <a:endParaRPr sz="2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080D684-B12D-47F7-8811-2260072E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192" y="2532888"/>
            <a:ext cx="154533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E68D"/>
                </a:solidFill>
              </a:rPr>
              <a:t>Avg skip 20.27%</a:t>
            </a:r>
            <a:endParaRPr sz="95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13B7F08-CB5A-4EF5-8F61-5108462C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337560"/>
            <a:ext cx="397764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2B0CD85-5402-4E96-BAF8-9C83A29C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3502152"/>
            <a:ext cx="35753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ANSWER</a:t>
            </a:r>
            <a:endParaRPr sz="85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0E5A95D-CBEA-422A-BB16-2C13D3CB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3776472"/>
            <a:ext cx="3575304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Premium corresponds to deeper listening</a:t>
            </a:r>
            <a:endParaRPr sz="22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BC90A3E-AAF8-4EF6-AD5E-C08242B8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4325112"/>
            <a:ext cx="3575304" cy="1033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In this dataset, Premium records have more total streams, recent streams, and streaming hours, with about a 6.3% advantage in hours-per-listener engagement.</a:t>
            </a:r>
            <a:endParaRPr sz="10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CD91C56-76AB-4686-923D-8B4458B01F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413619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216ADD-3166-4AAB-B7FE-87B499A9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Skip-rate analysis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495A8B-D01D-43E6-9D11-7F79A00A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Longer average stream duration does not meaningfully reduce skipping.</a:t>
            </a:r>
            <a:endParaRPr sz="1150"/>
          </a:p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6458f1ec9c4c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08760"/>
            <a:ext cx="7132320" cy="44805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288A6653-AB49-4177-B4FD-17A14100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72768"/>
            <a:ext cx="3639312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635E1D8-8E2E-4D47-8924-3852754B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73736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ANSWER</a:t>
            </a:r>
            <a:endParaRPr sz="8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EA82FEB-BC96-477A-9926-22045A33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01168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Correlation = −0.022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4AB1D10-203E-4E5B-817F-83255C81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560320"/>
            <a:ext cx="3236976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This is effectively zero: track duration is not a useful standalone predictor of skip behavior in this dataset.</a:t>
            </a:r>
            <a:endParaRPr sz="10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E66F65E-24E1-44EE-87F0-DC069CB6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3840480"/>
            <a:ext cx="347472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30">
                <a:solidFill>
                  <a:srgbClr val="A7B0AA"/>
                </a:solidFill>
              </a:rPr>
              <a:t>Future analysis should test playlist context, device, recommendation source, track position, repeat listening, and completion rate.</a:t>
            </a:r>
            <a:endParaRPr sz="113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976B505-9D61-44D8-826B-9B6DD1AD7C9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7649D2-53F3-4B81-B5BE-E8E5CDE6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08760"/>
            <a:ext cx="713232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7CBA18-535D-4F96-84E5-7653D3FC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5F5F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5F5"/>
                </a:solidFill>
                <a:latin typeface="Aptos"/>
                <a:ea typeface="Aptos"/>
                <a:cs typeface="Aptos"/>
              </a:rPr>
              <a:t>Duration does not explain skip behavior</a:t>
            </a:r>
          </a:p>
        </p:txBody>
      </p:sp>
    </p:spTree>
    <p:extLst>
      <p:ext uri="{BB962C8B-B14F-4D97-AF65-F5344CB8AC3E}">
        <p14:creationId xmlns:p14="http://schemas.microsoft.com/office/powerpoint/2010/main" val="123024649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C58FA5F-3AF9-4820-B02E-405D455C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Release-year trends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4D51F30-D0AB-441B-8CF2-D5194D44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Older catalog content can remain highly valuable.</a:t>
            </a:r>
            <a:endParaRPr sz="1150"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e5a3bd2774d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08760"/>
            <a:ext cx="7132320" cy="44805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6E4710A9-5AB3-4DE5-9477-B13FA25C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72768"/>
            <a:ext cx="3639312" cy="1691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C425E0E-3D4D-4EE2-BE53-DA6C8E6D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73736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HISTORICAL LEADER</a:t>
            </a:r>
            <a:endParaRPr sz="8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EEFC01B-34E0-42B3-B5C2-179C056B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01168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2022 releases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E86FB33-EFD0-461C-B6DE-6BD49658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560320"/>
            <a:ext cx="3236976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245,756.44M total streams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C3B1184D-921A-461A-8C5F-E8888723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93008"/>
            <a:ext cx="3639312" cy="1691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31E"/>
          </a:solidFill>
          <a:ln xmlns:a="http://schemas.openxmlformats.org/drawingml/2006/main" w="17780">
            <a:solidFill>
              <a:srgbClr val="1ED76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1A66950-A7FF-4401-A24F-07B91F14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657600"/>
            <a:ext cx="3236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10">
                <a:solidFill>
                  <a:srgbClr val="1ED760"/>
                </a:solidFill>
              </a:rPr>
              <a:t>RECENT LEADER</a:t>
            </a: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20F208F-D790-4B70-8DAC-A6274822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931920"/>
            <a:ext cx="323697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F7F5"/>
                </a:solidFill>
              </a:rPr>
              <a:t>2020 releases</a:t>
            </a:r>
            <a:endParaRPr sz="2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1DA6D70-6DF4-4FAE-AC12-DA855032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480560"/>
            <a:ext cx="3236976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9,603.78M recent streams</a:t>
            </a:r>
            <a:endParaRPr sz="10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56C3C1D-2026-4D0B-B28B-4B3C0669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5513832"/>
            <a:ext cx="3474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E68D"/>
                </a:solidFill>
              </a:rPr>
              <a:t>2020 also has the lowest release-year skip rate at 17.78%. This supports testing catalog rediscovery campaigns.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2488CFC-D35E-48B7-A4B3-7DB22B87EDC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094026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E20D25F-6D37-45CF-A48B-5F09D64C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072"/>
            <a:ext cx="7909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Business recommendations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9D2FC9-3CD9-4C25-8D50-0426145C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78992"/>
            <a:ext cx="10744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Turn the findings into targeted market, content, and subscription actions.</a:t>
            </a:r>
            <a:endParaRPr sz="11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60719BD-13D4-4541-A5D3-BAA8B35C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08760"/>
            <a:ext cx="5257800" cy="12070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CDC464B-96C4-4CA4-82C2-81CCA0EC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673352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D760"/>
                </a:solidFill>
              </a:rPr>
              <a:t>01</a:t>
            </a:r>
            <a:endParaRPr sz="1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36B8100-AFCC-4697-A91D-D704E7D4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655064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5F7F5"/>
                </a:solidFill>
              </a:rPr>
              <a:t>Defend scale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094509B-2A9E-429B-BACC-48BDA56F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984248"/>
            <a:ext cx="4297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Protect BTS and Classical with editorial visibility and catalog support.</a:t>
            </a:r>
            <a:endParaRPr sz="10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2359548-F3A8-4F03-B906-9304D39D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508760"/>
            <a:ext cx="5257800" cy="12070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C58E568-11C9-40EB-922A-75EF8DF6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673352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D760"/>
                </a:solidFill>
              </a:rPr>
              <a:t>02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DC8B5DE-AFE3-45F8-8038-8F387275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655064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5F7F5"/>
                </a:solidFill>
              </a:rPr>
              <a:t>Invest in momentum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F31D84-66C0-460F-A288-8610A6D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984248"/>
            <a:ext cx="4297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Prioritize Dua Lipa and recent high-growth content for campaigns.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CFA196C-4A3F-4E30-9DBE-57CBF44B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5257800" cy="12070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F8CA2AE-4A0D-43FA-A503-D8C1A459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182112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D760"/>
                </a:solidFill>
              </a:rPr>
              <a:t>03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63E6837-4271-4827-849C-C6AAEA17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63824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5F7F5"/>
                </a:solidFill>
              </a:rPr>
              <a:t>Test genre promotion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0E3248E-9EFF-4E6E-A51F-CEF8FE23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493008"/>
            <a:ext cx="4297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Test added Classical promotion while retaining K-pop and R&amp;B as engagement-rich segments.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795BB15-B781-455B-AE61-6F1591B8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017520"/>
            <a:ext cx="5257800" cy="12070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E7A9804-DC6B-4890-BDF2-31266F76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3182112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D760"/>
                </a:solidFill>
              </a:rPr>
              <a:t>04</a:t>
            </a:r>
            <a:endParaRPr sz="12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02C91BC-E50A-40A1-93D0-253B08E5B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163824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5F7F5"/>
                </a:solidFill>
              </a:rPr>
              <a:t>Set regional goals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4ACBA31-C583-49B6-94A3-A25AF95D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493008"/>
            <a:ext cx="4297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Use Sweden for streaming volume, Russia for listener reach, and France for engagement and retention.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5DE86AF-D1ED-4B19-8236-9B0037AB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5257800" cy="12070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7408F93-AC6C-4B20-81C4-11CAC405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690872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D760"/>
                </a:solidFill>
              </a:rPr>
              <a:t>05</a:t>
            </a:r>
            <a:endParaRPr sz="12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438FB7-C9AD-4640-848A-E39EA8CC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672584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5F7F5"/>
                </a:solidFill>
              </a:rPr>
              <a:t>Test membership effects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3F35E63-B103-4487-882C-4323BBBF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001768"/>
            <a:ext cx="4297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Treat Free versus Premium differences as descriptive and test conversion offers before scaling.</a:t>
            </a:r>
            <a:endParaRPr sz="10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D957168-4074-4AB0-B33D-C4956464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526280"/>
            <a:ext cx="5257800" cy="12070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FE12B62-5482-433D-8D28-64347197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4690872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D760"/>
                </a:solidFill>
              </a:rPr>
              <a:t>06</a:t>
            </a:r>
            <a:endParaRPr sz="12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36BEB7C-2EFE-46FD-8788-F51CF1B8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4672584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5F7F5"/>
                </a:solidFill>
              </a:rPr>
              <a:t>Monitor recent signals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4F3AF03-E640-4964-B5FC-BB35727D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5001768"/>
            <a:ext cx="4297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0AA"/>
                </a:solidFill>
              </a:rPr>
              <a:t>Separate lifetime scale from last-30-day momentum in dashboards and decisions.</a:t>
            </a:r>
            <a:endParaRPr sz="105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2EF9D57-8545-4C32-9C72-86C4E6E110F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6886680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B2B34A-8B23-4C1F-B956-92A5934C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"/>
            <a:ext cx="80467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5F7F5"/>
                </a:solidFill>
              </a:rPr>
              <a:t>Final business answers</a:t>
            </a:r>
            <a:endParaRPr sz="2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9D6A92E-AD66-4302-BF45-FE115883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0AA"/>
                </a:solidFill>
              </a:rPr>
              <a:t>A concise answer sheet for the project brief.</a:t>
            </a:r>
            <a:endParaRPr sz="11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CDD12F7-E86B-4CF5-9F02-2D773F3C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2A6249-0288-4D6B-B1FB-3952BDCC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27048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Most streams — country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9E7227A-1BEC-4999-A445-714E6F39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64792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Sweden</a:t>
            </a:r>
            <a:endParaRPr sz="13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8C33BD-9BC0-4405-975B-AEE0F023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417320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80254EF-58A3-4089-9CFE-9DE89047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1527048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Largest listener base — country</a:t>
            </a:r>
            <a:endParaRPr sz="82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447C8A7-0FB7-4DAD-AC11-1CC2383D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1764792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Russia</a:t>
            </a:r>
            <a:endParaRPr sz="13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045CFC7-AAB3-4E91-ADDB-596BD3D1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1417320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38C0C66-C36B-4009-86C9-772F6280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1527048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Strongest regional engagement</a:t>
            </a:r>
            <a:endParaRPr sz="82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9BC1786-22C6-4B55-8D06-BF9AC4EF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1764792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France</a:t>
            </a:r>
            <a:endParaRPr sz="13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B81F929-0F09-4277-A397-A4B17467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0008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CF3CCE-BE3B-4B22-A23B-710D1A1C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59736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Strongest recent market</a:t>
            </a:r>
            <a:endParaRPr sz="8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C63693D-0CD0-4813-8A2F-602122BE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Italy</a:t>
            </a:r>
            <a:endParaRPr sz="13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FBED4F6-E95A-446E-8CBA-9E526551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2350008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769E8DB-652D-4C13-B59A-4EDFC86E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2459736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Highest streaming artist</a:t>
            </a:r>
            <a:endParaRPr sz="82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99065F2-2333-4472-A601-FC6989E2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2697480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BTS</a:t>
            </a:r>
            <a:endParaRPr sz="13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A5F0B38-8E9C-4611-B656-4726DB74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2350008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BD31502-B266-4000-90C1-D1E6602D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2459736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Strongest recent artist</a:t>
            </a:r>
            <a:endParaRPr sz="82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BF13253-D9FD-493E-A07E-BA353081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2697480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Dua Lipa</a:t>
            </a:r>
            <a:endParaRPr sz="13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F900EA7-7AE7-433E-8E0B-A598D328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82696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137A8E8-4822-4B9B-885F-1988759D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92424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Strongest artist engagement</a:t>
            </a:r>
            <a:endParaRPr sz="8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0E63D2F-351F-4932-B3A2-9B7BC159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0168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Dua Lipa</a:t>
            </a:r>
            <a:endParaRPr sz="13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48E59DC9-4F09-4753-A06F-D61E0ADE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3282696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0792963-4533-4755-A148-82CE6B94B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3392424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Lowest artist skip rate</a:t>
            </a:r>
            <a:endParaRPr sz="82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D598A7A-858F-45F6-AE7E-DDD31376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3630168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BLACKPINK</a:t>
            </a:r>
            <a:endParaRPr sz="13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7FF50D7-C19D-47D2-9727-A3772BC7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3282696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8BB0F97-7A4A-42D8-BDDD-CCD9A8EA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3392424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Top genre by scale</a:t>
            </a:r>
            <a:endParaRPr sz="82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3C88154-24DE-4C5C-9867-0AE137A4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3630168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Classical</a:t>
            </a:r>
            <a:endParaRPr sz="13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DC0F79A-E601-48EB-A289-5F635A2F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15384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1C4F743-A4AD-48A4-9DCB-42AF3920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325112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Promotion candidate</a:t>
            </a:r>
            <a:endParaRPr sz="82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519B7B9-8E97-45D5-90C1-01339D1A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62856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Classical</a:t>
            </a:r>
            <a:endParaRPr sz="13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29ECCD17-C306-46D2-8DAB-6BA55A12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4215384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B98DFE6-B8A5-44FC-9976-CB5BC13A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4325112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Top album</a:t>
            </a:r>
            <a:endParaRPr sz="82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B869EA2-41E3-4251-A5AD-8A162F83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4562856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BTS — Proof</a:t>
            </a:r>
            <a:endParaRPr sz="13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245BD795-F426-49A2-9EAA-84BF769F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4215384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FDF03D3-4D69-4EA1-B7D4-FFBE476C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4325112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Premium behavior</a:t>
            </a:r>
            <a:endParaRPr sz="82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5672ECF8-6BDB-429D-9BE6-23A225D1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4562856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Deeper engagement</a:t>
            </a:r>
            <a:endParaRPr sz="13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FD94CB7E-4FCF-4516-939D-617344FC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48072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96490B29-4983-41E1-8ED7-8BB422FE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57800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Duration vs skip rate</a:t>
            </a:r>
            <a:endParaRPr sz="82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AFF6C07F-A5FF-4E71-AD30-F8A6AC79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95544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No meaningful relationship</a:t>
            </a:r>
            <a:endParaRPr sz="135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A1828699-6C91-4E9B-A96D-4EFF40AC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5148072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536B476-5E86-4A54-A3C0-400F082D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5257800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Top historical release year</a:t>
            </a:r>
            <a:endParaRPr sz="82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4975CF2C-C699-4C04-B5D3-7828BED2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5495544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2022</a:t>
            </a:r>
            <a:endParaRPr sz="13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4B5963F2-EBCA-4BAF-8778-703EDF78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5148072"/>
            <a:ext cx="340156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16"/>
          </a:solidFill>
          <a:ln xmlns:a="http://schemas.openxmlformats.org/drawingml/2006/main" w="12700">
            <a:solidFill>
              <a:srgbClr val="29332D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08375CAD-E808-463B-9379-47AB233A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5257800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 b="1">
                <a:solidFill>
                  <a:srgbClr val="A7B0AA"/>
                </a:solidFill>
              </a:rPr>
              <a:t>Top recent release year</a:t>
            </a:r>
            <a:endParaRPr sz="820"/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AD7F7F38-B6DD-4ECB-BFAA-C1D9C113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5495544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5F7F5"/>
                </a:solidFill>
              </a:rPr>
              <a:t>2020</a:t>
            </a:r>
            <a:endParaRPr sz="135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F7C9A14A-4C51-4DBF-920B-2AFBED0E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172200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1ED760"/>
                </a:solidFill>
              </a:rPr>
              <a:t>Decision factors: reach, streaming volume, engagement, and recent momentum</a:t>
            </a:r>
            <a:endParaRPr sz="1700"/>
          </a:p>
        </p:txBody>
      </p:sp>
      <p:sp>
        <p:nvSpPr>
          <p:cNvPr id="5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363A105-993F-4A40-9C4E-891B5CF2109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12880" y="6492240"/>
            <a:ext cx="32004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F8A83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3052868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0F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B7F79C-630D-4FF3-8AE8-CF7AA19C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5F7F5"/>
                </a:solidFill>
              </a:rPr>
              <a:t>From listening data to business action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A186114-8B1B-4984-B171-8D6378FA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606040"/>
            <a:ext cx="9144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A7B0AA"/>
                </a:solidFill>
              </a:rPr>
              <a:t>Spotify should weigh streaming scale alongside engagement, retention, and recent momentum when prioritizing content and markets.</a:t>
            </a:r>
            <a:endParaRPr sz="1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E57E459-21B1-42BC-AA45-019AFC22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69080"/>
            <a:ext cx="3520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D760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E930244-2190-4F8E-AB02-EA862B06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617720"/>
            <a:ext cx="44805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1ED760"/>
                </a:solidFill>
              </a:rPr>
              <a:t>Thank you</a:t>
            </a:r>
            <a:endParaRPr sz="2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F1A76D1-DF1C-4E97-B8BE-5A7C1EB3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5349240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A7B0AA"/>
                </a:solidFill>
              </a:rPr>
              <a:t>Spotify Listener Statistics — Exploratory Data Analysis</a:t>
            </a:r>
            <a:endParaRPr sz="1100"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AB36DF6-5870-458E-9FF4-FFCE8A3A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580644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ED760"/>
                </a:solidFill>
                <a:latin typeface="Aptos"/>
                <a:ea typeface="Aptos"/>
                <a:cs typeface="Aptos"/>
              </a:rPr>
              <a:t>By Alok Agarwal</a:t>
            </a:r>
          </a:p>
        </p:txBody>
      </p:sp>
    </p:spTree>
    <p:extLst>
      <p:ext uri="{BB962C8B-B14F-4D97-AF65-F5344CB8AC3E}">
        <p14:creationId xmlns:p14="http://schemas.microsoft.com/office/powerpoint/2010/main" val="78452636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2026-09-04T14:14:49.8990000Z</dcterms:created>
  <dcterms:modified xsi:type="dcterms:W3CDTF">2026-09-04T14:14:49.8990000Z</dcterms:modified>
</coreProperties>
</file>